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2"/>
  </p:notesMasterIdLst>
  <p:sldIdLst>
    <p:sldId id="256" r:id="rId2"/>
    <p:sldId id="262" r:id="rId3"/>
    <p:sldId id="259" r:id="rId4"/>
    <p:sldId id="312" r:id="rId5"/>
    <p:sldId id="320" r:id="rId6"/>
    <p:sldId id="313" r:id="rId7"/>
    <p:sldId id="321" r:id="rId8"/>
    <p:sldId id="309" r:id="rId9"/>
    <p:sldId id="314" r:id="rId10"/>
    <p:sldId id="315" r:id="rId11"/>
    <p:sldId id="322" r:id="rId12"/>
    <p:sldId id="310" r:id="rId13"/>
    <p:sldId id="270" r:id="rId14"/>
    <p:sldId id="323" r:id="rId15"/>
    <p:sldId id="324" r:id="rId16"/>
    <p:sldId id="317" r:id="rId17"/>
    <p:sldId id="311" r:id="rId18"/>
    <p:sldId id="319" r:id="rId19"/>
    <p:sldId id="287" r:id="rId20"/>
    <p:sldId id="290" r:id="rId21"/>
  </p:sldIdLst>
  <p:sldSz cx="9144000" cy="5143500" type="screen16x9"/>
  <p:notesSz cx="6858000" cy="9144000"/>
  <p:embeddedFontLst>
    <p:embeddedFont>
      <p:font typeface="Arvo" panose="020B0604020202020204" charset="0"/>
      <p:regular r:id="rId23"/>
      <p:bold r:id="rId24"/>
      <p:italic r:id="rId25"/>
      <p:boldItalic r:id="rId26"/>
    </p:embeddedFont>
    <p:embeddedFont>
      <p:font typeface="Bowlby One SC" panose="020B0604020202020204" charset="0"/>
      <p:regular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F583A3-B1EB-498A-985F-90B5312E866B}">
  <a:tblStyle styleId="{64F583A3-B1EB-498A-985F-90B5312E866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23628a81ae_0_39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23628a81ae_0_390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22ecb60be0_0_7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22ecb60be0_0_7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2F90193C-64EE-5D11-6EE8-BEA007D1F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3B5DABD4-230C-D415-7EC1-92E1AABEF3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363551FA-036C-A0D4-67BD-D5E37F12F4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9309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9EF18A1B-8958-437D-CB5D-C38A00716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2F133E74-90F0-EA83-5893-1CC017E82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5B5C57C9-DC82-CC07-B42F-969DCB308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2679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2C706A6E-CF8B-9545-9259-AC816EB8C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7949C601-9618-DB04-3E7A-D96A41972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3E45DA65-6B9B-7E84-2366-495D1191D2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5183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3A0DCE9C-E251-9874-7FF3-F463327E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625038EE-87EC-AFCC-463C-F01D3B60AE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B999A7B2-B11B-D98C-5FAA-DA9BB4049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5458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5BD2E630-B640-1E92-BE7B-80213E7E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22ecb60be0_0_798:notes">
            <a:extLst>
              <a:ext uri="{FF2B5EF4-FFF2-40B4-BE49-F238E27FC236}">
                <a16:creationId xmlns:a16="http://schemas.microsoft.com/office/drawing/2014/main" id="{E18614A1-8560-0975-2337-9117ECFD06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22ecb60be0_0_798:notes">
            <a:extLst>
              <a:ext uri="{FF2B5EF4-FFF2-40B4-BE49-F238E27FC236}">
                <a16:creationId xmlns:a16="http://schemas.microsoft.com/office/drawing/2014/main" id="{59D145ED-D948-A6AE-F085-967C53808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1807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43EDBB83-71BD-97EB-4BEE-CE0E971E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56C0A368-8A9E-4DC6-0731-6C0A6C7D6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D65B0523-B276-A6C2-E675-E85C705711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3652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7CBB8048-D217-4988-A710-B6A27356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27908E4D-C61F-4BA1-B723-9F98626D91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DAD141C1-FDF3-300F-9604-8420110E6A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423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CFB63900-E3CC-F567-CEE4-1D1C4E45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323EF79D-5B40-FE57-C75B-DF369DE6B3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0F2EAF20-040A-CD4C-A987-3777F2171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4311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B36999E6-B4E9-CEAE-820A-8893B5E17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22ecb60be0_0_798:notes">
            <a:extLst>
              <a:ext uri="{FF2B5EF4-FFF2-40B4-BE49-F238E27FC236}">
                <a16:creationId xmlns:a16="http://schemas.microsoft.com/office/drawing/2014/main" id="{C2FC70A9-CF4C-1AB8-C441-D2A4299DD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22ecb60be0_0_798:notes">
            <a:extLst>
              <a:ext uri="{FF2B5EF4-FFF2-40B4-BE49-F238E27FC236}">
                <a16:creationId xmlns:a16="http://schemas.microsoft.com/office/drawing/2014/main" id="{608E11DF-92AD-BD1D-D308-9085E68F09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53706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22ecb60be0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122ecb60be0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AFC5FD8D-4255-F046-EF45-DB58CA711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22ecb60be0_0_845:notes">
            <a:extLst>
              <a:ext uri="{FF2B5EF4-FFF2-40B4-BE49-F238E27FC236}">
                <a16:creationId xmlns:a16="http://schemas.microsoft.com/office/drawing/2014/main" id="{6EAC7D24-38CD-71DA-BAF3-FF1379329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122ecb60be0_0_845:notes">
            <a:extLst>
              <a:ext uri="{FF2B5EF4-FFF2-40B4-BE49-F238E27FC236}">
                <a16:creationId xmlns:a16="http://schemas.microsoft.com/office/drawing/2014/main" id="{4012880D-900F-BCA4-9BAD-201C27AED5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35931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>
          <a:extLst>
            <a:ext uri="{FF2B5EF4-FFF2-40B4-BE49-F238E27FC236}">
              <a16:creationId xmlns:a16="http://schemas.microsoft.com/office/drawing/2014/main" id="{59B2E909-38C0-AB24-61A0-98B73CEE7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122ecb60be0_0_845:notes">
            <a:extLst>
              <a:ext uri="{FF2B5EF4-FFF2-40B4-BE49-F238E27FC236}">
                <a16:creationId xmlns:a16="http://schemas.microsoft.com/office/drawing/2014/main" id="{0E863066-9CCA-E4D7-C61D-464B71BC9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122ecb60be0_0_845:notes">
            <a:extLst>
              <a:ext uri="{FF2B5EF4-FFF2-40B4-BE49-F238E27FC236}">
                <a16:creationId xmlns:a16="http://schemas.microsoft.com/office/drawing/2014/main" id="{84286232-AC8A-3EB7-1ECD-097FAC2EE3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89770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6EA4097F-76DA-265A-4951-52E2CE0D7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A18F321D-25D0-669E-F8CD-6B90830ABD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14ECB5D9-B432-4F06-250C-44A3A740A0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81269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>
          <a:extLst>
            <a:ext uri="{FF2B5EF4-FFF2-40B4-BE49-F238E27FC236}">
              <a16:creationId xmlns:a16="http://schemas.microsoft.com/office/drawing/2014/main" id="{79B58D74-B51C-5C31-2E09-8B608FE3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22ecb60be0_0_798:notes">
            <a:extLst>
              <a:ext uri="{FF2B5EF4-FFF2-40B4-BE49-F238E27FC236}">
                <a16:creationId xmlns:a16="http://schemas.microsoft.com/office/drawing/2014/main" id="{1EDCF370-30BF-DDB4-F3AF-9B737318F3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22ecb60be0_0_798:notes">
            <a:extLst>
              <a:ext uri="{FF2B5EF4-FFF2-40B4-BE49-F238E27FC236}">
                <a16:creationId xmlns:a16="http://schemas.microsoft.com/office/drawing/2014/main" id="{DA4852AA-B074-51AD-EA8F-63911805F4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7275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>
          <a:extLst>
            <a:ext uri="{FF2B5EF4-FFF2-40B4-BE49-F238E27FC236}">
              <a16:creationId xmlns:a16="http://schemas.microsoft.com/office/drawing/2014/main" id="{BAD9FFAB-0DFA-F1DE-A4E5-E5B24E90A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23628a81ae_0_935:notes">
            <a:extLst>
              <a:ext uri="{FF2B5EF4-FFF2-40B4-BE49-F238E27FC236}">
                <a16:creationId xmlns:a16="http://schemas.microsoft.com/office/drawing/2014/main" id="{CE0300B2-4BE8-7AA4-5518-8F83DBB4A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23628a81ae_0_935:notes">
            <a:extLst>
              <a:ext uri="{FF2B5EF4-FFF2-40B4-BE49-F238E27FC236}">
                <a16:creationId xmlns:a16="http://schemas.microsoft.com/office/drawing/2014/main" id="{AB3E9401-96D1-DF9A-A537-3697896D1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2582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123628a81ae_0_8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123628a81ae_0_8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g123628a81ae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3" name="Google Shape;2123;g123628a81ae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26300"/>
            <a:ext cx="4720500" cy="219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93875" y="3462700"/>
            <a:ext cx="3740400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225" y="2150850"/>
            <a:ext cx="4979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285000"/>
            <a:ext cx="38589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865025" y="3131225"/>
            <a:ext cx="3858900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13225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13225" y="882250"/>
            <a:ext cx="7717500" cy="37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713225" y="1091725"/>
            <a:ext cx="4545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713225" y="1925725"/>
            <a:ext cx="4050900" cy="21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13225" y="1455638"/>
            <a:ext cx="4045200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713225" y="2171363"/>
            <a:ext cx="4045200" cy="15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2149525" y="2204750"/>
            <a:ext cx="4950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subTitle" idx="1"/>
          </p:nvPr>
        </p:nvSpPr>
        <p:spPr>
          <a:xfrm>
            <a:off x="1458125" y="714575"/>
            <a:ext cx="6227700" cy="13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ctrTitle"/>
          </p:nvPr>
        </p:nvSpPr>
        <p:spPr>
          <a:xfrm>
            <a:off x="4576381" y="539500"/>
            <a:ext cx="38499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7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subTitle" idx="1"/>
          </p:nvPr>
        </p:nvSpPr>
        <p:spPr>
          <a:xfrm>
            <a:off x="4572000" y="1399450"/>
            <a:ext cx="3858900" cy="11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8" name="Google Shape;128;p24"/>
          <p:cNvSpPr txBox="1"/>
          <p:nvPr/>
        </p:nvSpPr>
        <p:spPr>
          <a:xfrm rot="-1069">
            <a:off x="4576375" y="3415538"/>
            <a:ext cx="3858900" cy="8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Arvo"/>
                <a:ea typeface="Arvo"/>
                <a:cs typeface="Arvo"/>
                <a:sym typeface="Arvo"/>
              </a:rPr>
              <a:t>CREDITS: </a:t>
            </a:r>
            <a:r>
              <a:rPr lang="en" sz="1200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This presentation template was created by </a:t>
            </a:r>
            <a:r>
              <a:rPr lang="en" sz="1200">
                <a:solidFill>
                  <a:schemeClr val="accent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 b="1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,</a:t>
            </a:r>
            <a:r>
              <a:rPr lang="en" sz="1200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 and includes icons by </a:t>
            </a:r>
            <a:r>
              <a:rPr lang="en" sz="1200">
                <a:solidFill>
                  <a:schemeClr val="accent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,</a:t>
            </a:r>
            <a:r>
              <a:rPr lang="en" sz="1200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 and infographics &amp; images by </a:t>
            </a:r>
            <a:r>
              <a:rPr lang="en" sz="1200">
                <a:solidFill>
                  <a:schemeClr val="accent1"/>
                </a:solidFill>
                <a:uFill>
                  <a:noFill/>
                </a:uFill>
                <a:latin typeface="Arvo"/>
                <a:ea typeface="Arvo"/>
                <a:cs typeface="Arvo"/>
                <a:sym typeface="Arv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accent1"/>
              </a:solidFill>
              <a:latin typeface="Arvo"/>
              <a:ea typeface="Arvo"/>
              <a:cs typeface="Arvo"/>
              <a:sym typeface="Arv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accent3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576475" y="4510175"/>
            <a:ext cx="939000" cy="196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73723" y="1126300"/>
            <a:ext cx="518852" cy="51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 rotWithShape="1">
          <a:blip r:embed="rId3">
            <a:alphaModFix/>
          </a:blip>
          <a:srcRect l="4866" r="3482"/>
          <a:stretch/>
        </p:blipFill>
        <p:spPr>
          <a:xfrm>
            <a:off x="4572000" y="-826725"/>
            <a:ext cx="3815301" cy="433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3225" y="2627575"/>
            <a:ext cx="708051" cy="19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LANK_1_1_1_1_1_1_1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7"/>
          <p:cNvPicPr preferRelativeResize="0"/>
          <p:nvPr/>
        </p:nvPicPr>
        <p:blipFill rotWithShape="1">
          <a:blip r:embed="rId2">
            <a:alphaModFix/>
          </a:blip>
          <a:srcRect t="-18497"/>
          <a:stretch/>
        </p:blipFill>
        <p:spPr>
          <a:xfrm>
            <a:off x="-607750" y="-655350"/>
            <a:ext cx="3697876" cy="3850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5850" y="2197050"/>
            <a:ext cx="1083351" cy="303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owlby One SC"/>
              <a:buNone/>
              <a:defRPr sz="2800">
                <a:solidFill>
                  <a:schemeClr val="accent1"/>
                </a:solidFill>
                <a:latin typeface="Bowlby One SC"/>
                <a:ea typeface="Bowlby One SC"/>
                <a:cs typeface="Bowlby One SC"/>
                <a:sym typeface="Bowlby One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●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○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■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●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○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■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●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○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vo"/>
              <a:buChar char="■"/>
              <a:defRPr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5" r:id="rId5"/>
    <p:sldLayoutId id="2147483658" r:id="rId6"/>
    <p:sldLayoutId id="2147483660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elnerr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ryptologicfoundation.org/community/cryptologic-history/cryptologic-history-calendar.html/event/2029/09/20/1884574800/1983-three-inventors-receive-patent-for-encryption-algorithm-rsa/78258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hyperlink" Target="https://www.google.com/url?sa=i&amp;url=https%3A%2F%2Fwww.pinterest.com%2Fpin%2F743868063438193582%2F&amp;psig=AOvVaw1MI39mrioF2H8zanyCPNP1&amp;ust=1764204422918000&amp;source=images&amp;cd=vfe&amp;opi=89978449&amp;ved=0CBUQjRxqFwoTCNDplOHLjpEDFQAAAAAdAAAAABAE" TargetMode="External"/><Relationship Id="rId4" Type="http://schemas.openxmlformats.org/officeDocument/2006/relationships/hyperlink" Target="https://www.google.com/url?sa=i&amp;url=https%3A%2F%2Fwww.youtube.com%2Fwatch%3Fv%3DNhHb9usKy6Q&amp;psig=AOvVaw1SHKirsPek0Am-qeFcjf5M&amp;ust=1764204480065000&amp;source=images&amp;cd=vfe&amp;opi=89978449&amp;ved=0CBUQjRxqFwoTCIiWuvzLjpEDFQAAAAAdAAAAABA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1"/>
          <p:cNvSpPr/>
          <p:nvPr/>
        </p:nvSpPr>
        <p:spPr>
          <a:xfrm>
            <a:off x="5030725" y="4476725"/>
            <a:ext cx="3453000" cy="263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31"/>
          <p:cNvSpPr/>
          <p:nvPr/>
        </p:nvSpPr>
        <p:spPr>
          <a:xfrm>
            <a:off x="713225" y="3462850"/>
            <a:ext cx="4010700" cy="339600"/>
          </a:xfrm>
          <a:prstGeom prst="chevron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1"/>
          <p:cNvSpPr txBox="1">
            <a:spLocks noGrp="1"/>
          </p:cNvSpPr>
          <p:nvPr>
            <p:ph type="ctrTitle"/>
          </p:nvPr>
        </p:nvSpPr>
        <p:spPr>
          <a:xfrm>
            <a:off x="713225" y="1126300"/>
            <a:ext cx="4720500" cy="219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accent3"/>
                </a:solidFill>
              </a:rPr>
              <a:t>C</a:t>
            </a:r>
            <a:r>
              <a:rPr lang="en-CA" u="sng" dirty="0">
                <a:solidFill>
                  <a:schemeClr val="accent3"/>
                </a:solidFill>
              </a:rPr>
              <a:t>r</a:t>
            </a:r>
            <a:r>
              <a:rPr lang="en" u="sng" dirty="0">
                <a:solidFill>
                  <a:schemeClr val="accent3"/>
                </a:solidFill>
              </a:rPr>
              <a:t>yptography - 2</a:t>
            </a:r>
            <a:endParaRPr u="sng" dirty="0">
              <a:solidFill>
                <a:schemeClr val="accent3"/>
              </a:solidFill>
            </a:endParaRPr>
          </a:p>
        </p:txBody>
      </p:sp>
      <p:sp>
        <p:nvSpPr>
          <p:cNvPr id="151" name="Google Shape;151;p31"/>
          <p:cNvSpPr txBox="1">
            <a:spLocks noGrp="1"/>
          </p:cNvSpPr>
          <p:nvPr>
            <p:ph type="subTitle" idx="1"/>
          </p:nvPr>
        </p:nvSpPr>
        <p:spPr>
          <a:xfrm>
            <a:off x="893875" y="3462700"/>
            <a:ext cx="3740400" cy="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Sensei Glen  |  Code Ninjas</a:t>
            </a:r>
            <a:endParaRPr dirty="0"/>
          </a:p>
        </p:txBody>
      </p:sp>
      <p:pic>
        <p:nvPicPr>
          <p:cNvPr id="152" name="Google Shape;152;p31"/>
          <p:cNvPicPr preferRelativeResize="0"/>
          <p:nvPr/>
        </p:nvPicPr>
        <p:blipFill>
          <a:blip r:embed="rId3"/>
          <a:srcRect/>
          <a:stretch/>
        </p:blipFill>
        <p:spPr>
          <a:xfrm>
            <a:off x="5833149" y="1289883"/>
            <a:ext cx="1952719" cy="39372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3723" y="1126300"/>
            <a:ext cx="518852" cy="51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1"/>
          <p:cNvPicPr preferRelativeResize="0"/>
          <p:nvPr/>
        </p:nvPicPr>
        <p:blipFill rotWithShape="1">
          <a:blip r:embed="rId5">
            <a:alphaModFix/>
          </a:blip>
          <a:srcRect l="4866" r="3482"/>
          <a:stretch/>
        </p:blipFill>
        <p:spPr>
          <a:xfrm>
            <a:off x="4572000" y="-826725"/>
            <a:ext cx="3815301" cy="43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>
            <a:spLocks noGrp="1"/>
          </p:cNvSpPr>
          <p:nvPr>
            <p:ph type="title"/>
          </p:nvPr>
        </p:nvSpPr>
        <p:spPr>
          <a:xfrm>
            <a:off x="713225" y="246598"/>
            <a:ext cx="8102884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So Far..</a:t>
            </a:r>
            <a:endParaRPr dirty="0"/>
          </a:p>
        </p:txBody>
      </p:sp>
      <p:sp>
        <p:nvSpPr>
          <p:cNvPr id="219" name="Google Shape;219;p37"/>
          <p:cNvSpPr txBox="1">
            <a:spLocks noGrp="1"/>
          </p:cNvSpPr>
          <p:nvPr>
            <p:ph type="body" idx="1"/>
          </p:nvPr>
        </p:nvSpPr>
        <p:spPr>
          <a:xfrm>
            <a:off x="713225" y="900489"/>
            <a:ext cx="8102884" cy="21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We’ve learnt about:</a:t>
            </a:r>
          </a:p>
          <a:p>
            <a:pPr marL="285750" indent="-285750" algn="ctr"/>
            <a:r>
              <a:rPr lang="en-CA" dirty="0"/>
              <a:t>Private Keys</a:t>
            </a:r>
          </a:p>
          <a:p>
            <a:pPr marL="285750" indent="-285750" algn="ctr"/>
            <a:r>
              <a:rPr lang="en-CA" dirty="0"/>
              <a:t>Public Keys</a:t>
            </a:r>
          </a:p>
          <a:p>
            <a:pPr marL="285750" indent="-285750" algn="ctr"/>
            <a:r>
              <a:rPr lang="en-CA" dirty="0"/>
              <a:t>How encrypting and decrypting works</a:t>
            </a:r>
          </a:p>
          <a:p>
            <a:pPr marL="285750" indent="-285750" algn="ctr"/>
            <a:r>
              <a:rPr lang="en-CA" dirty="0"/>
              <a:t>How to GENERATE our own Keys!</a:t>
            </a:r>
          </a:p>
          <a:p>
            <a:pPr marL="285750" indent="-285750" algn="ctr"/>
            <a:r>
              <a:rPr lang="en-CA" dirty="0"/>
              <a:t>Decrypting each others’ names</a:t>
            </a:r>
          </a:p>
        </p:txBody>
      </p:sp>
      <p:pic>
        <p:nvPicPr>
          <p:cNvPr id="4" name="Google Shape;1107;p54">
            <a:extLst>
              <a:ext uri="{FF2B5EF4-FFF2-40B4-BE49-F238E27FC236}">
                <a16:creationId xmlns:a16="http://schemas.microsoft.com/office/drawing/2014/main" id="{69C3305F-DEB6-C2E2-6C7C-FCEF41F7A5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35228"/>
          <a:stretch/>
        </p:blipFill>
        <p:spPr>
          <a:xfrm>
            <a:off x="4155621" y="2821133"/>
            <a:ext cx="1218091" cy="2622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/>
          <p:cNvSpPr txBox="1">
            <a:spLocks noGrp="1"/>
          </p:cNvSpPr>
          <p:nvPr>
            <p:ph type="title"/>
          </p:nvPr>
        </p:nvSpPr>
        <p:spPr>
          <a:xfrm>
            <a:off x="684174" y="2748306"/>
            <a:ext cx="4979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About some Real Life Examples?</a:t>
            </a:r>
            <a:endParaRPr dirty="0"/>
          </a:p>
        </p:txBody>
      </p:sp>
      <p:sp>
        <p:nvSpPr>
          <p:cNvPr id="194" name="Google Shape;194;p34"/>
          <p:cNvSpPr txBox="1">
            <a:spLocks noGrp="1"/>
          </p:cNvSpPr>
          <p:nvPr>
            <p:ph type="title" idx="2"/>
          </p:nvPr>
        </p:nvSpPr>
        <p:spPr>
          <a:xfrm>
            <a:off x="713225" y="1285000"/>
            <a:ext cx="38589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96" name="Google Shape;196;p34"/>
          <p:cNvSpPr/>
          <p:nvPr/>
        </p:nvSpPr>
        <p:spPr>
          <a:xfrm>
            <a:off x="5663275" y="11880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4"/>
          <p:cNvSpPr/>
          <p:nvPr/>
        </p:nvSpPr>
        <p:spPr>
          <a:xfrm>
            <a:off x="5773075" y="12850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3274" y="1467601"/>
            <a:ext cx="2140526" cy="5169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E4E3E22F-6BE8-E060-E58E-B4F2CD740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ECBCEDB9-B702-8B0C-DB48-B55155EB8D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49" y="656044"/>
            <a:ext cx="4668539" cy="73506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accent3"/>
                </a:solidFill>
              </a:rPr>
              <a:t>Checking Our Browser’s  </a:t>
            </a:r>
            <a:r>
              <a:rPr lang="en" sz="2400" dirty="0"/>
              <a:t>C</a:t>
            </a:r>
            <a:r>
              <a:rPr lang="en-CA" sz="2400" dirty="0"/>
              <a:t>r</a:t>
            </a:r>
            <a:r>
              <a:rPr lang="en" sz="2400" dirty="0"/>
              <a:t>yptography </a:t>
            </a:r>
            <a:r>
              <a:rPr lang="en" sz="2400" dirty="0">
                <a:solidFill>
                  <a:schemeClr val="accent3"/>
                </a:solidFill>
              </a:rPr>
              <a:t>in</a:t>
            </a:r>
            <a:r>
              <a:rPr lang="en" sz="2400" dirty="0"/>
              <a:t> Action</a:t>
            </a:r>
            <a:endParaRPr sz="2400"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EE155E6F-6B49-01C2-D660-51A51662F5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50" y="1464780"/>
            <a:ext cx="4560814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Everyday websites use cryptography to ensure hackers don’t get your information easily, and to help internet users surf websites without worrying about data leakages.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One such example is </a:t>
            </a:r>
            <a:r>
              <a:rPr lang="en-CA" b="1" dirty="0"/>
              <a:t>Google</a:t>
            </a:r>
            <a:r>
              <a:rPr lang="en-CA" dirty="0"/>
              <a:t> (but you can go to any website, really) which shows you your encryption key, but smartly keeps the private key hidden!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Google uses an SHA-256 encryption which works with a hash function.</a:t>
            </a:r>
          </a:p>
        </p:txBody>
      </p:sp>
      <p:sp>
        <p:nvSpPr>
          <p:cNvPr id="205" name="Google Shape;205;p35">
            <a:extLst>
              <a:ext uri="{FF2B5EF4-FFF2-40B4-BE49-F238E27FC236}">
                <a16:creationId xmlns:a16="http://schemas.microsoft.com/office/drawing/2014/main" id="{A06236A7-01B8-7A7A-B79D-2B5869E66897}"/>
              </a:ext>
            </a:extLst>
          </p:cNvPr>
          <p:cNvSpPr/>
          <p:nvPr/>
        </p:nvSpPr>
        <p:spPr>
          <a:xfrm>
            <a:off x="5663350" y="11880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5">
            <a:extLst>
              <a:ext uri="{FF2B5EF4-FFF2-40B4-BE49-F238E27FC236}">
                <a16:creationId xmlns:a16="http://schemas.microsoft.com/office/drawing/2014/main" id="{1385FB6E-028A-475C-A042-36D802C36C16}"/>
              </a:ext>
            </a:extLst>
          </p:cNvPr>
          <p:cNvSpPr/>
          <p:nvPr/>
        </p:nvSpPr>
        <p:spPr>
          <a:xfrm>
            <a:off x="5773150" y="12850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5">
            <a:extLst>
              <a:ext uri="{FF2B5EF4-FFF2-40B4-BE49-F238E27FC236}">
                <a16:creationId xmlns:a16="http://schemas.microsoft.com/office/drawing/2014/main" id="{29A6E117-2297-7A33-76A9-68CC878FE02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5491489" y="656044"/>
            <a:ext cx="3111222" cy="383141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7FF3D1F-353E-8F58-C0C9-C10F63CDF18D}"/>
              </a:ext>
            </a:extLst>
          </p:cNvPr>
          <p:cNvSpPr/>
          <p:nvPr/>
        </p:nvSpPr>
        <p:spPr>
          <a:xfrm>
            <a:off x="5663350" y="3620655"/>
            <a:ext cx="441886" cy="17087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25155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7725486D-88B4-505A-0CD9-57952E80A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22E22B92-FB09-441B-7596-66AA5C9BDB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45917" y="891613"/>
            <a:ext cx="4045200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A </a:t>
            </a:r>
            <a:r>
              <a:rPr lang="en-CA" dirty="0">
                <a:solidFill>
                  <a:schemeClr val="accent3"/>
                </a:solidFill>
              </a:rPr>
              <a:t>F</a:t>
            </a:r>
            <a:r>
              <a:rPr lang="en" dirty="0">
                <a:solidFill>
                  <a:schemeClr val="accent3"/>
                </a:solidFill>
              </a:rPr>
              <a:t>ew More Examples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9EED192C-052E-1EA7-E317-BAA717AE5C1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336884" y="1490877"/>
            <a:ext cx="4560814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Even though Google uses SHA-256, a lot of websites use different methods of encryption, depending on user needs.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One such example is </a:t>
            </a:r>
            <a:r>
              <a:rPr lang="en-CA" sz="1800" b="1" dirty="0"/>
              <a:t>Reddit, </a:t>
            </a:r>
            <a:r>
              <a:rPr lang="en-CA" sz="1800" dirty="0"/>
              <a:t>which uses a combination of </a:t>
            </a:r>
            <a:r>
              <a:rPr lang="en-CA" sz="1800" b="1" dirty="0"/>
              <a:t>RSA</a:t>
            </a:r>
            <a:r>
              <a:rPr lang="en-CA" sz="1800" dirty="0"/>
              <a:t>, </a:t>
            </a:r>
            <a:r>
              <a:rPr lang="en-CA" sz="1800" b="1" dirty="0"/>
              <a:t>TLS </a:t>
            </a:r>
            <a:r>
              <a:rPr lang="en-CA" sz="1800" dirty="0"/>
              <a:t>(Transport Layer Security) and </a:t>
            </a:r>
            <a:r>
              <a:rPr lang="en-CA" sz="1800" b="1" dirty="0"/>
              <a:t>SHA-256</a:t>
            </a:r>
            <a:r>
              <a:rPr lang="en-CA" sz="1800" dirty="0"/>
              <a:t> (Secure Hash Algorithm) to ensure extra safe browsing on the platform!</a:t>
            </a:r>
          </a:p>
        </p:txBody>
      </p:sp>
      <p:sp>
        <p:nvSpPr>
          <p:cNvPr id="205" name="Google Shape;205;p35">
            <a:extLst>
              <a:ext uri="{FF2B5EF4-FFF2-40B4-BE49-F238E27FC236}">
                <a16:creationId xmlns:a16="http://schemas.microsoft.com/office/drawing/2014/main" id="{8A23BFC6-DD08-4D32-5EF6-30A689CE382C}"/>
              </a:ext>
            </a:extLst>
          </p:cNvPr>
          <p:cNvSpPr/>
          <p:nvPr/>
        </p:nvSpPr>
        <p:spPr>
          <a:xfrm>
            <a:off x="600283" y="13658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5">
            <a:extLst>
              <a:ext uri="{FF2B5EF4-FFF2-40B4-BE49-F238E27FC236}">
                <a16:creationId xmlns:a16="http://schemas.microsoft.com/office/drawing/2014/main" id="{C8BBC881-5969-19AA-2CF8-56E6311C8E15}"/>
              </a:ext>
            </a:extLst>
          </p:cNvPr>
          <p:cNvSpPr/>
          <p:nvPr/>
        </p:nvSpPr>
        <p:spPr>
          <a:xfrm>
            <a:off x="710083" y="14628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5C5DBA-D890-6B16-766B-12EB06DB22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79" y="1755548"/>
            <a:ext cx="3115110" cy="196242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5D4249C-908D-BC85-9E0B-5E6F626B7552}"/>
              </a:ext>
            </a:extLst>
          </p:cNvPr>
          <p:cNvSpPr/>
          <p:nvPr/>
        </p:nvSpPr>
        <p:spPr>
          <a:xfrm>
            <a:off x="2116667" y="3210022"/>
            <a:ext cx="245533" cy="17087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B18B4D-C991-BF16-BC98-FDDDBAB9849A}"/>
              </a:ext>
            </a:extLst>
          </p:cNvPr>
          <p:cNvSpPr/>
          <p:nvPr/>
        </p:nvSpPr>
        <p:spPr>
          <a:xfrm>
            <a:off x="1168401" y="2236355"/>
            <a:ext cx="461432" cy="17087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285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D0AD0562-7601-BA13-0BBA-F144DABB4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804BB060-9906-B8C8-52C3-CDB7EDA48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Activity!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A304E2DA-D539-6B2F-9025-C0A7D25EBC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7382" y="1464780"/>
            <a:ext cx="8246123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I want all of you to: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Go to your favourite website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Try and spot the Encryption (Public) key, and what kind of cryptosystem is in use for the same.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After this, find </a:t>
            </a:r>
            <a:r>
              <a:rPr lang="en-CA" sz="1800" b="1" dirty="0"/>
              <a:t>at least 2</a:t>
            </a:r>
            <a:r>
              <a:rPr lang="en-CA" sz="1800" dirty="0"/>
              <a:t> websites using either </a:t>
            </a:r>
            <a:r>
              <a:rPr lang="en-CA" sz="1800" b="1" dirty="0"/>
              <a:t>RSA</a:t>
            </a:r>
            <a:r>
              <a:rPr lang="en-CA" sz="1800" dirty="0"/>
              <a:t>, </a:t>
            </a:r>
            <a:r>
              <a:rPr lang="en-CA" sz="1800" b="1" dirty="0"/>
              <a:t>TLC</a:t>
            </a:r>
            <a:r>
              <a:rPr lang="en-CA" sz="1800" dirty="0"/>
              <a:t>, or </a:t>
            </a:r>
            <a:r>
              <a:rPr lang="en-CA" sz="1800" b="1" dirty="0"/>
              <a:t>SHA-256.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CA" sz="1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Let a Sensei know once you’re done!</a:t>
            </a:r>
          </a:p>
        </p:txBody>
      </p:sp>
    </p:spTree>
    <p:extLst>
      <p:ext uri="{BB962C8B-B14F-4D97-AF65-F5344CB8AC3E}">
        <p14:creationId xmlns:p14="http://schemas.microsoft.com/office/powerpoint/2010/main" val="25702215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88A59ECB-A687-4246-88B8-9064170A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4C50FE30-886F-4B14-8900-6EA9EB57E9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Awesome Work!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57120934-EAD9-68E6-84FA-7822C6A24D4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49" y="1464780"/>
            <a:ext cx="8246123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We see that Cryptography has large scale applications in the real world, especially to keep our information safe.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</p:txBody>
      </p:sp>
      <p:pic>
        <p:nvPicPr>
          <p:cNvPr id="3" name="Picture 2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62DA759A-26CA-DA9E-973B-7A9DBA3E49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637367" y="2256103"/>
            <a:ext cx="4237565" cy="238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293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4D5F9049-C596-55EC-F87B-870851077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>
            <a:extLst>
              <a:ext uri="{FF2B5EF4-FFF2-40B4-BE49-F238E27FC236}">
                <a16:creationId xmlns:a16="http://schemas.microsoft.com/office/drawing/2014/main" id="{9AE2071D-9F29-C1E1-F396-585E369E3C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8803" y="2012275"/>
            <a:ext cx="4979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Signatures!</a:t>
            </a:r>
            <a:endParaRPr dirty="0"/>
          </a:p>
        </p:txBody>
      </p:sp>
      <p:sp>
        <p:nvSpPr>
          <p:cNvPr id="194" name="Google Shape;194;p34">
            <a:extLst>
              <a:ext uri="{FF2B5EF4-FFF2-40B4-BE49-F238E27FC236}">
                <a16:creationId xmlns:a16="http://schemas.microsoft.com/office/drawing/2014/main" id="{DDCC5999-CEAA-55CA-62CB-446D4F98A48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998672"/>
            <a:ext cx="38589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96" name="Google Shape;196;p34">
            <a:extLst>
              <a:ext uri="{FF2B5EF4-FFF2-40B4-BE49-F238E27FC236}">
                <a16:creationId xmlns:a16="http://schemas.microsoft.com/office/drawing/2014/main" id="{1258103C-A224-4ACC-40C2-AB73D15D31EC}"/>
              </a:ext>
            </a:extLst>
          </p:cNvPr>
          <p:cNvSpPr/>
          <p:nvPr/>
        </p:nvSpPr>
        <p:spPr>
          <a:xfrm>
            <a:off x="5663275" y="11880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4">
            <a:extLst>
              <a:ext uri="{FF2B5EF4-FFF2-40B4-BE49-F238E27FC236}">
                <a16:creationId xmlns:a16="http://schemas.microsoft.com/office/drawing/2014/main" id="{2E71F779-3C46-26C0-F9DB-37B32E3F2F96}"/>
              </a:ext>
            </a:extLst>
          </p:cNvPr>
          <p:cNvSpPr/>
          <p:nvPr/>
        </p:nvSpPr>
        <p:spPr>
          <a:xfrm>
            <a:off x="5773075" y="12850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34">
            <a:extLst>
              <a:ext uri="{FF2B5EF4-FFF2-40B4-BE49-F238E27FC236}">
                <a16:creationId xmlns:a16="http://schemas.microsoft.com/office/drawing/2014/main" id="{CF438A46-4FB9-11C6-0B2E-4841E9A5BA56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5903420" y="1670900"/>
            <a:ext cx="2140526" cy="30911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395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1E7967F6-DA25-94A2-429D-465D2F6B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EB567B30-0CC5-E901-9B71-02E16CF7C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How Do We Know who the </a:t>
            </a:r>
            <a:r>
              <a:rPr lang="en-CA" dirty="0">
                <a:solidFill>
                  <a:schemeClr val="accent3"/>
                </a:solidFill>
              </a:rPr>
              <a:t>Sender</a:t>
            </a:r>
            <a:r>
              <a:rPr lang="en-CA" dirty="0"/>
              <a:t> Is?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7A7BDF66-8832-6D23-1852-D65FA7D4924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50" y="1464780"/>
            <a:ext cx="7978268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1800" dirty="0"/>
              <a:t>So we’ve figured out how to encrypt messages. However, how do we </a:t>
            </a:r>
            <a:r>
              <a:rPr lang="en-CA" sz="1800" b="1" dirty="0"/>
              <a:t>Verify</a:t>
            </a:r>
            <a:r>
              <a:rPr lang="en-CA" sz="1800" dirty="0"/>
              <a:t> if it is actually sent by the right person?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18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This is where RSA Signatures come in.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Encryption keeps messages secret, but Signatures prove </a:t>
            </a:r>
            <a:r>
              <a:rPr lang="en-CA" sz="1800" b="1" dirty="0"/>
              <a:t>people</a:t>
            </a:r>
            <a:r>
              <a:rPr lang="en-CA" sz="1800" dirty="0"/>
              <a:t> are </a:t>
            </a:r>
            <a:r>
              <a:rPr lang="en-CA" sz="1800" b="1" dirty="0"/>
              <a:t>real</a:t>
            </a:r>
            <a:r>
              <a:rPr lang="en-CA" sz="1800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1800" dirty="0"/>
              <a:t>If I sign something with my private key,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Anyone can check the signature with my public key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But only </a:t>
            </a:r>
            <a:r>
              <a:rPr lang="en-CA" sz="1800" b="1" i="1" dirty="0"/>
              <a:t>I </a:t>
            </a:r>
            <a:r>
              <a:rPr lang="en-CA" sz="1800" dirty="0"/>
              <a:t>could’ve created it..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1800" dirty="0"/>
              <a:t>It proves that the message is authentic and is actually sent by me.</a:t>
            </a:r>
          </a:p>
        </p:txBody>
      </p:sp>
    </p:spTree>
    <p:extLst>
      <p:ext uri="{BB962C8B-B14F-4D97-AF65-F5344CB8AC3E}">
        <p14:creationId xmlns:p14="http://schemas.microsoft.com/office/powerpoint/2010/main" val="3072200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E2A26DB3-480E-C9E7-8BFE-97886E92C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B07EC784-E4F3-AA51-80CE-554D429EB6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675228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Let’s Learn with an </a:t>
            </a:r>
            <a:r>
              <a:rPr lang="en" dirty="0"/>
              <a:t>Activity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4AC05B59-0A27-0442-A804-7E6D305C953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50" y="1270816"/>
            <a:ext cx="8246123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Look to your Python Notebook, there are a few links for activities!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The first one leads you to the Signature Verifying website, where all of us can play around with exchanging messages.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F66E6E-7AFF-4632-6FD2-BC245C3D8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18" y="2679072"/>
            <a:ext cx="7975600" cy="2211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488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27C5C6F6-3E2F-9692-9913-AE0B338EA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630B96DA-475C-7098-8FEB-3C2E35B620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122934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4000" dirty="0"/>
              <a:t>Signatures </a:t>
            </a:r>
            <a:r>
              <a:rPr lang="en-CA" sz="4000" dirty="0">
                <a:solidFill>
                  <a:schemeClr val="accent3"/>
                </a:solidFill>
              </a:rPr>
              <a:t>Protect</a:t>
            </a:r>
            <a:r>
              <a:rPr lang="en-CA" sz="4000" dirty="0"/>
              <a:t> you From:</a:t>
            </a:r>
            <a:endParaRPr sz="4000"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6EEB5822-AFF9-79E5-3E1D-A38D3FC78E1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50" y="1972780"/>
            <a:ext cx="7978268" cy="25253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800" dirty="0"/>
              <a:t>Fake Websites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800" dirty="0"/>
              <a:t>Malware Pretending to be apps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800" dirty="0"/>
              <a:t>Tampered Files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800" dirty="0"/>
              <a:t>Impersonation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800" dirty="0"/>
              <a:t>Inaccurate Information</a:t>
            </a:r>
          </a:p>
        </p:txBody>
      </p:sp>
    </p:spTree>
    <p:extLst>
      <p:ext uri="{BB962C8B-B14F-4D97-AF65-F5344CB8AC3E}">
        <p14:creationId xmlns:p14="http://schemas.microsoft.com/office/powerpoint/2010/main" val="3124178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6C914321-36C5-05D1-260F-D4DD205E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>
            <a:extLst>
              <a:ext uri="{FF2B5EF4-FFF2-40B4-BE49-F238E27FC236}">
                <a16:creationId xmlns:a16="http://schemas.microsoft.com/office/drawing/2014/main" id="{0FFD472B-BF05-461A-68D2-29375E4E58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150850"/>
            <a:ext cx="4979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Steganography</a:t>
            </a:r>
            <a:endParaRPr dirty="0"/>
          </a:p>
        </p:txBody>
      </p:sp>
      <p:sp>
        <p:nvSpPr>
          <p:cNvPr id="194" name="Google Shape;194;p34">
            <a:extLst>
              <a:ext uri="{FF2B5EF4-FFF2-40B4-BE49-F238E27FC236}">
                <a16:creationId xmlns:a16="http://schemas.microsoft.com/office/drawing/2014/main" id="{114349A7-D3A3-62CE-43E7-8F00107EF18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285000"/>
            <a:ext cx="38589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96" name="Google Shape;196;p34">
            <a:extLst>
              <a:ext uri="{FF2B5EF4-FFF2-40B4-BE49-F238E27FC236}">
                <a16:creationId xmlns:a16="http://schemas.microsoft.com/office/drawing/2014/main" id="{F14E68D7-73D9-E2FE-D5A4-243A4268A7B7}"/>
              </a:ext>
            </a:extLst>
          </p:cNvPr>
          <p:cNvSpPr/>
          <p:nvPr/>
        </p:nvSpPr>
        <p:spPr>
          <a:xfrm>
            <a:off x="5663275" y="11880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4">
            <a:extLst>
              <a:ext uri="{FF2B5EF4-FFF2-40B4-BE49-F238E27FC236}">
                <a16:creationId xmlns:a16="http://schemas.microsoft.com/office/drawing/2014/main" id="{0FD80F0B-B371-3EEF-5BA0-69FF43D2CD43}"/>
              </a:ext>
            </a:extLst>
          </p:cNvPr>
          <p:cNvSpPr/>
          <p:nvPr/>
        </p:nvSpPr>
        <p:spPr>
          <a:xfrm>
            <a:off x="5773075" y="12850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34">
            <a:extLst>
              <a:ext uri="{FF2B5EF4-FFF2-40B4-BE49-F238E27FC236}">
                <a16:creationId xmlns:a16="http://schemas.microsoft.com/office/drawing/2014/main" id="{3CEB2C84-60AC-10F4-ECA0-2E7631BAD796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6386909" y="1486172"/>
            <a:ext cx="1725812" cy="41330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81866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5"/>
          <p:cNvSpPr/>
          <p:nvPr/>
        </p:nvSpPr>
        <p:spPr>
          <a:xfrm>
            <a:off x="3188250" y="3009675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45"/>
          <p:cNvSpPr/>
          <p:nvPr/>
        </p:nvSpPr>
        <p:spPr>
          <a:xfrm>
            <a:off x="3298050" y="3106685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7" name="Google Shape;667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2291" y="3340624"/>
            <a:ext cx="4165350" cy="24365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03;p35">
            <a:extLst>
              <a:ext uri="{FF2B5EF4-FFF2-40B4-BE49-F238E27FC236}">
                <a16:creationId xmlns:a16="http://schemas.microsoft.com/office/drawing/2014/main" id="{04C53217-AA6A-B534-C884-BBCE3DACAE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Steganography – </a:t>
            </a:r>
            <a:r>
              <a:rPr lang="en-CA" dirty="0">
                <a:solidFill>
                  <a:schemeClr val="accent3"/>
                </a:solidFill>
              </a:rPr>
              <a:t>What is it?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" name="Google Shape;204;p35">
            <a:extLst>
              <a:ext uri="{FF2B5EF4-FFF2-40B4-BE49-F238E27FC236}">
                <a16:creationId xmlns:a16="http://schemas.microsoft.com/office/drawing/2014/main" id="{60F7E56C-A746-200E-D60B-8FA3A5420A7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50" y="1464780"/>
            <a:ext cx="7978268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1800" dirty="0"/>
              <a:t>Steganography is the practice of </a:t>
            </a:r>
            <a:r>
              <a:rPr lang="en-CA" sz="1800" i="1" dirty="0"/>
              <a:t>hiding </a:t>
            </a:r>
            <a:r>
              <a:rPr lang="en-CA" sz="1800" dirty="0"/>
              <a:t>a message inside of something that looks normal.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1800" dirty="0"/>
              <a:t>We’re not </a:t>
            </a:r>
            <a:r>
              <a:rPr lang="en-CA" sz="1800" b="1" dirty="0"/>
              <a:t>scrambling</a:t>
            </a:r>
            <a:r>
              <a:rPr lang="en-CA" sz="1800" dirty="0"/>
              <a:t> the message, that would be encryption.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1800" dirty="0"/>
              <a:t>We’re simply hiding it into, say for example, an image!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>
          <a:extLst>
            <a:ext uri="{FF2B5EF4-FFF2-40B4-BE49-F238E27FC236}">
              <a16:creationId xmlns:a16="http://schemas.microsoft.com/office/drawing/2014/main" id="{7B0C0BE2-5CDB-F2BD-632A-ADEDA113F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03;p35">
            <a:extLst>
              <a:ext uri="{FF2B5EF4-FFF2-40B4-BE49-F238E27FC236}">
                <a16:creationId xmlns:a16="http://schemas.microsoft.com/office/drawing/2014/main" id="{5D07A1A6-B537-04AF-288B-8825CF3F8F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Steganography – </a:t>
            </a:r>
            <a:r>
              <a:rPr lang="en-CA" dirty="0">
                <a:solidFill>
                  <a:schemeClr val="accent3"/>
                </a:solidFill>
              </a:rPr>
              <a:t>What is it?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" name="Google Shape;204;p35">
            <a:extLst>
              <a:ext uri="{FF2B5EF4-FFF2-40B4-BE49-F238E27FC236}">
                <a16:creationId xmlns:a16="http://schemas.microsoft.com/office/drawing/2014/main" id="{961A0EFF-5ABC-0620-0982-D6ACC9DC12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50" y="1464780"/>
            <a:ext cx="7978268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2400" dirty="0"/>
              <a:t>You could hide text inside of: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400" dirty="0"/>
              <a:t>images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400" dirty="0"/>
              <a:t>audios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400" dirty="0"/>
              <a:t>a PDF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2400" dirty="0"/>
              <a:t>and the file would look the </a:t>
            </a:r>
            <a:r>
              <a:rPr lang="en-CA" sz="2400" b="1" dirty="0"/>
              <a:t>exact same</a:t>
            </a:r>
            <a:r>
              <a:rPr lang="en-CA" sz="2400" dirty="0"/>
              <a:t> to the human eye.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2902343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2">
          <a:extLst>
            <a:ext uri="{FF2B5EF4-FFF2-40B4-BE49-F238E27FC236}">
              <a16:creationId xmlns:a16="http://schemas.microsoft.com/office/drawing/2014/main" id="{17AFC6EF-7C7A-97EC-6AF7-CC8A922DF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03;p35">
            <a:extLst>
              <a:ext uri="{FF2B5EF4-FFF2-40B4-BE49-F238E27FC236}">
                <a16:creationId xmlns:a16="http://schemas.microsoft.com/office/drawing/2014/main" id="{C2CC70E7-CE33-827D-9C83-7D576BF00B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But….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7" name="Google Shape;204;p35">
            <a:extLst>
              <a:ext uri="{FF2B5EF4-FFF2-40B4-BE49-F238E27FC236}">
                <a16:creationId xmlns:a16="http://schemas.microsoft.com/office/drawing/2014/main" id="{022BA888-3A53-4477-27B0-04DF39270A6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50" y="1464780"/>
            <a:ext cx="4907177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2400" dirty="0"/>
              <a:t>If you knew how to extract the data somehow…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CA" sz="2400" dirty="0"/>
              <a:t>The secret message appears!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CA" sz="2400" dirty="0"/>
          </a:p>
        </p:txBody>
      </p:sp>
      <p:pic>
        <p:nvPicPr>
          <p:cNvPr id="2050" name="Picture 2" descr="Monkey looking away template [HD]">
            <a:extLst>
              <a:ext uri="{FF2B5EF4-FFF2-40B4-BE49-F238E27FC236}">
                <a16:creationId xmlns:a16="http://schemas.microsoft.com/office/drawing/2014/main" id="{4C6541F7-BEAE-309F-23C8-86ADF08BF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231" y="1724720"/>
            <a:ext cx="3087492" cy="204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452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6F0A8712-ACB9-8E6D-F249-826C16E3C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1AF02113-09F9-79C2-EF56-D82CD2B07D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49" y="432282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/>
            <a:r>
              <a:rPr lang="en" dirty="0"/>
              <a:t>SteganoGraphy </a:t>
            </a:r>
            <a:r>
              <a:rPr lang="en" dirty="0">
                <a:solidFill>
                  <a:schemeClr val="accent3"/>
                </a:solidFill>
              </a:rPr>
              <a:t>Activity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6F056CE2-E33B-8F24-2EFB-8C8673AA75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49" y="1192308"/>
            <a:ext cx="8246123" cy="33381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 dirty="0"/>
              <a:t>Let’s now look to our Python Notebook and follow the Sensei’s instructions on what to do with this peculiar image…….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CA" sz="1800" dirty="0"/>
          </a:p>
        </p:txBody>
      </p:sp>
      <p:pic>
        <p:nvPicPr>
          <p:cNvPr id="20" name="Picture 19" descr="A person with a beard and mustache&#10;&#10;AI-generated content may be incorrect.">
            <a:extLst>
              <a:ext uri="{FF2B5EF4-FFF2-40B4-BE49-F238E27FC236}">
                <a16:creationId xmlns:a16="http://schemas.microsoft.com/office/drawing/2014/main" id="{7EB9FC36-8E7E-1EFD-5A18-00EA2317F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527" y="2311112"/>
            <a:ext cx="4493490" cy="252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32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>
          <a:extLst>
            <a:ext uri="{FF2B5EF4-FFF2-40B4-BE49-F238E27FC236}">
              <a16:creationId xmlns:a16="http://schemas.microsoft.com/office/drawing/2014/main" id="{F634C7AA-6241-030C-5236-35C71ABAE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4">
            <a:extLst>
              <a:ext uri="{FF2B5EF4-FFF2-40B4-BE49-F238E27FC236}">
                <a16:creationId xmlns:a16="http://schemas.microsoft.com/office/drawing/2014/main" id="{B4BE367A-6F57-36B7-8CF3-28F6BE04AE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150850"/>
            <a:ext cx="49791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194" name="Google Shape;194;p34">
            <a:extLst>
              <a:ext uri="{FF2B5EF4-FFF2-40B4-BE49-F238E27FC236}">
                <a16:creationId xmlns:a16="http://schemas.microsoft.com/office/drawing/2014/main" id="{30AFA9E8-0BF5-6179-13A6-CFB7FBE6D31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285000"/>
            <a:ext cx="38589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96" name="Google Shape;196;p34">
            <a:extLst>
              <a:ext uri="{FF2B5EF4-FFF2-40B4-BE49-F238E27FC236}">
                <a16:creationId xmlns:a16="http://schemas.microsoft.com/office/drawing/2014/main" id="{33DD37D8-FCA5-3D8B-2D41-B55CC75BF2C4}"/>
              </a:ext>
            </a:extLst>
          </p:cNvPr>
          <p:cNvSpPr/>
          <p:nvPr/>
        </p:nvSpPr>
        <p:spPr>
          <a:xfrm>
            <a:off x="5663275" y="118800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4">
            <a:extLst>
              <a:ext uri="{FF2B5EF4-FFF2-40B4-BE49-F238E27FC236}">
                <a16:creationId xmlns:a16="http://schemas.microsoft.com/office/drawing/2014/main" id="{323D3446-DE27-65F2-25A8-69854A190EA5}"/>
              </a:ext>
            </a:extLst>
          </p:cNvPr>
          <p:cNvSpPr/>
          <p:nvPr/>
        </p:nvSpPr>
        <p:spPr>
          <a:xfrm>
            <a:off x="5773075" y="128501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8" name="Google Shape;198;p34">
            <a:extLst>
              <a:ext uri="{FF2B5EF4-FFF2-40B4-BE49-F238E27FC236}">
                <a16:creationId xmlns:a16="http://schemas.microsoft.com/office/drawing/2014/main" id="{5C15E676-9364-A791-B514-C2A8B33022BC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5887039" y="1794250"/>
            <a:ext cx="2692309" cy="28767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14707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>
          <a:extLst>
            <a:ext uri="{FF2B5EF4-FFF2-40B4-BE49-F238E27FC236}">
              <a16:creationId xmlns:a16="http://schemas.microsoft.com/office/drawing/2014/main" id="{F3ACA2CE-95D0-EBD9-B292-DA61449B6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>
            <a:extLst>
              <a:ext uri="{FF2B5EF4-FFF2-40B4-BE49-F238E27FC236}">
                <a16:creationId xmlns:a16="http://schemas.microsoft.com/office/drawing/2014/main" id="{F2A06630-2B2E-CADB-35BE-363B98B4BB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150" y="749056"/>
            <a:ext cx="7978268" cy="62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3"/>
                </a:solidFill>
              </a:rPr>
              <a:t>So, What did we </a:t>
            </a:r>
            <a:r>
              <a:rPr lang="en" dirty="0"/>
              <a:t>Learn</a:t>
            </a:r>
            <a:r>
              <a:rPr lang="en" dirty="0">
                <a:solidFill>
                  <a:schemeClr val="accent3"/>
                </a:solidFill>
              </a:rPr>
              <a:t> Today..</a:t>
            </a:r>
            <a:endParaRPr dirty="0"/>
          </a:p>
        </p:txBody>
      </p:sp>
      <p:sp>
        <p:nvSpPr>
          <p:cNvPr id="204" name="Google Shape;204;p35">
            <a:extLst>
              <a:ext uri="{FF2B5EF4-FFF2-40B4-BE49-F238E27FC236}">
                <a16:creationId xmlns:a16="http://schemas.microsoft.com/office/drawing/2014/main" id="{A1C0CF36-58C7-7426-0BF3-E9DFF43DF98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149" y="1464781"/>
            <a:ext cx="8246123" cy="15878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/>
              <a:t>Did a recap from last week on the RSA Cryptosystem </a:t>
            </a:r>
            <a:br>
              <a:rPr lang="en-CA" sz="2000" dirty="0"/>
            </a:br>
            <a:r>
              <a:rPr lang="en-CA" sz="2000" dirty="0"/>
              <a:t>from last week on Python.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/>
              <a:t>Explored a bunch of websites using different </a:t>
            </a:r>
            <a:br>
              <a:rPr lang="en-CA" sz="2000" dirty="0"/>
            </a:br>
            <a:r>
              <a:rPr lang="en-CA" sz="2000" dirty="0"/>
              <a:t>Encryptions.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/>
              <a:t>Discovered the idea of Verification and </a:t>
            </a:r>
            <a:br>
              <a:rPr lang="en-CA" sz="2000" dirty="0"/>
            </a:br>
            <a:r>
              <a:rPr lang="en-CA" sz="2000" dirty="0"/>
              <a:t>Signatures!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/>
              <a:t>Exchanged messages with Signing them!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CA" sz="2000" dirty="0"/>
              <a:t>Uncovering hidden messages in images through</a:t>
            </a:r>
            <a:br>
              <a:rPr lang="en-CA" sz="2000" dirty="0"/>
            </a:br>
            <a:r>
              <a:rPr lang="en-CA" sz="2000" dirty="0"/>
              <a:t>Steganography!</a:t>
            </a:r>
          </a:p>
        </p:txBody>
      </p:sp>
      <p:pic>
        <p:nvPicPr>
          <p:cNvPr id="4" name="Google Shape;198;p34">
            <a:extLst>
              <a:ext uri="{FF2B5EF4-FFF2-40B4-BE49-F238E27FC236}">
                <a16:creationId xmlns:a16="http://schemas.microsoft.com/office/drawing/2014/main" id="{C630AF25-F388-D718-4FCC-1A3A0E565C2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1740" y="1573077"/>
            <a:ext cx="1715023" cy="41419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2601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62"/>
          <p:cNvSpPr/>
          <p:nvPr/>
        </p:nvSpPr>
        <p:spPr>
          <a:xfrm>
            <a:off x="1046450" y="983250"/>
            <a:ext cx="2767500" cy="27675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62"/>
          <p:cNvSpPr/>
          <p:nvPr/>
        </p:nvSpPr>
        <p:spPr>
          <a:xfrm>
            <a:off x="1156250" y="1080260"/>
            <a:ext cx="2547900" cy="25479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62"/>
          <p:cNvSpPr/>
          <p:nvPr/>
        </p:nvSpPr>
        <p:spPr>
          <a:xfrm>
            <a:off x="4572000" y="2836987"/>
            <a:ext cx="504000" cy="5040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62"/>
          <p:cNvSpPr/>
          <p:nvPr/>
        </p:nvSpPr>
        <p:spPr>
          <a:xfrm>
            <a:off x="4614439" y="2879378"/>
            <a:ext cx="419400" cy="419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3" name="Google Shape;1483;p62"/>
          <p:cNvSpPr/>
          <p:nvPr/>
        </p:nvSpPr>
        <p:spPr>
          <a:xfrm>
            <a:off x="5231175" y="2836987"/>
            <a:ext cx="504000" cy="5040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62"/>
          <p:cNvSpPr/>
          <p:nvPr/>
        </p:nvSpPr>
        <p:spPr>
          <a:xfrm>
            <a:off x="5273475" y="2879378"/>
            <a:ext cx="419400" cy="419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62"/>
          <p:cNvSpPr/>
          <p:nvPr/>
        </p:nvSpPr>
        <p:spPr>
          <a:xfrm>
            <a:off x="5932525" y="2836987"/>
            <a:ext cx="504000" cy="5040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62"/>
          <p:cNvSpPr/>
          <p:nvPr/>
        </p:nvSpPr>
        <p:spPr>
          <a:xfrm>
            <a:off x="5974964" y="2879378"/>
            <a:ext cx="419400" cy="419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7" name="Google Shape;1487;p62"/>
          <p:cNvSpPr txBox="1">
            <a:spLocks noGrp="1"/>
          </p:cNvSpPr>
          <p:nvPr>
            <p:ph type="ctrTitle"/>
          </p:nvPr>
        </p:nvSpPr>
        <p:spPr>
          <a:xfrm>
            <a:off x="4576381" y="539500"/>
            <a:ext cx="38499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THANK you</a:t>
            </a:r>
            <a:endParaRPr sz="4400" dirty="0"/>
          </a:p>
        </p:txBody>
      </p:sp>
      <p:sp>
        <p:nvSpPr>
          <p:cNvPr id="1488" name="Google Shape;1488;p62"/>
          <p:cNvSpPr txBox="1">
            <a:spLocks noGrp="1"/>
          </p:cNvSpPr>
          <p:nvPr>
            <p:ph type="subTitle" idx="1"/>
          </p:nvPr>
        </p:nvSpPr>
        <p:spPr>
          <a:xfrm>
            <a:off x="4572000" y="1399450"/>
            <a:ext cx="3858900" cy="119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It has been an absolute pleasure teaching all of you!!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/>
              <a:t>glenissac392@gmail.com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+</a:t>
            </a:r>
            <a:r>
              <a:rPr lang="en-CA" dirty="0"/>
              <a:t>1 (639) 554-5833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>
                <a:hlinkClick r:id="rId3"/>
              </a:rPr>
              <a:t>github.com/</a:t>
            </a:r>
            <a:r>
              <a:rPr lang="en-CA" dirty="0" err="1">
                <a:hlinkClick r:id="rId3"/>
              </a:rPr>
              <a:t>gelnerr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89" name="Google Shape;1489;p62"/>
          <p:cNvGrpSpPr/>
          <p:nvPr/>
        </p:nvGrpSpPr>
        <p:grpSpPr>
          <a:xfrm>
            <a:off x="6050152" y="2955210"/>
            <a:ext cx="268743" cy="263724"/>
            <a:chOff x="3763184" y="3817357"/>
            <a:chExt cx="363314" cy="356576"/>
          </a:xfrm>
        </p:grpSpPr>
        <p:sp>
          <p:nvSpPr>
            <p:cNvPr id="1490" name="Google Shape;1490;p62"/>
            <p:cNvSpPr/>
            <p:nvPr/>
          </p:nvSpPr>
          <p:spPr>
            <a:xfrm>
              <a:off x="3763184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814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814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8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62"/>
            <p:cNvSpPr/>
            <p:nvPr/>
          </p:nvSpPr>
          <p:spPr>
            <a:xfrm>
              <a:off x="3918324" y="3817357"/>
              <a:ext cx="208173" cy="356576"/>
            </a:xfrm>
            <a:custGeom>
              <a:avLst/>
              <a:gdLst/>
              <a:ahLst/>
              <a:cxnLst/>
              <a:rect l="l" t="t" r="r" b="b"/>
              <a:pathLst>
                <a:path w="7941" h="13602" extrusionOk="0">
                  <a:moveTo>
                    <a:pt x="896" y="0"/>
                  </a:moveTo>
                  <a:cubicBezTo>
                    <a:pt x="593" y="0"/>
                    <a:pt x="304" y="15"/>
                    <a:pt x="1" y="58"/>
                  </a:cubicBezTo>
                  <a:cubicBezTo>
                    <a:pt x="3393" y="505"/>
                    <a:pt x="5919" y="3378"/>
                    <a:pt x="5919" y="6799"/>
                  </a:cubicBezTo>
                  <a:cubicBezTo>
                    <a:pt x="5919" y="10220"/>
                    <a:pt x="3393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1" y="10865"/>
                    <a:pt x="7681" y="7247"/>
                  </a:cubicBezTo>
                  <a:cubicBezTo>
                    <a:pt x="7940" y="3320"/>
                    <a:pt x="4822" y="0"/>
                    <a:pt x="896" y="0"/>
                  </a:cubicBezTo>
                  <a:close/>
                </a:path>
              </a:pathLst>
            </a:custGeom>
            <a:solidFill>
              <a:srgbClr val="000000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62"/>
            <p:cNvSpPr/>
            <p:nvPr/>
          </p:nvSpPr>
          <p:spPr>
            <a:xfrm>
              <a:off x="3848330" y="3964188"/>
              <a:ext cx="39375" cy="116945"/>
            </a:xfrm>
            <a:custGeom>
              <a:avLst/>
              <a:gdLst/>
              <a:ahLst/>
              <a:cxnLst/>
              <a:rect l="l" t="t" r="r" b="b"/>
              <a:pathLst>
                <a:path w="1502" h="4461" extrusionOk="0">
                  <a:moveTo>
                    <a:pt x="58" y="0"/>
                  </a:moveTo>
                  <a:cubicBezTo>
                    <a:pt x="29" y="0"/>
                    <a:pt x="0" y="29"/>
                    <a:pt x="0" y="58"/>
                  </a:cubicBezTo>
                  <a:lnTo>
                    <a:pt x="0" y="4403"/>
                  </a:lnTo>
                  <a:cubicBezTo>
                    <a:pt x="0" y="4432"/>
                    <a:pt x="29" y="4461"/>
                    <a:pt x="58" y="4461"/>
                  </a:cubicBezTo>
                  <a:lnTo>
                    <a:pt x="1444" y="4461"/>
                  </a:lnTo>
                  <a:cubicBezTo>
                    <a:pt x="1473" y="4461"/>
                    <a:pt x="1502" y="4446"/>
                    <a:pt x="1502" y="4403"/>
                  </a:cubicBezTo>
                  <a:lnTo>
                    <a:pt x="1502" y="58"/>
                  </a:lnTo>
                  <a:cubicBezTo>
                    <a:pt x="1502" y="29"/>
                    <a:pt x="1473" y="0"/>
                    <a:pt x="14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62"/>
            <p:cNvSpPr/>
            <p:nvPr/>
          </p:nvSpPr>
          <p:spPr>
            <a:xfrm>
              <a:off x="3832418" y="3894403"/>
              <a:ext cx="55287" cy="47475"/>
            </a:xfrm>
            <a:custGeom>
              <a:avLst/>
              <a:gdLst/>
              <a:ahLst/>
              <a:cxnLst/>
              <a:rect l="l" t="t" r="r" b="b"/>
              <a:pathLst>
                <a:path w="2109" h="1811" extrusionOk="0">
                  <a:moveTo>
                    <a:pt x="1208" y="0"/>
                  </a:moveTo>
                  <a:cubicBezTo>
                    <a:pt x="987" y="0"/>
                    <a:pt x="761" y="83"/>
                    <a:pt x="578" y="266"/>
                  </a:cubicBezTo>
                  <a:cubicBezTo>
                    <a:pt x="1" y="829"/>
                    <a:pt x="405" y="1810"/>
                    <a:pt x="1214" y="1810"/>
                  </a:cubicBezTo>
                  <a:cubicBezTo>
                    <a:pt x="1704" y="1810"/>
                    <a:pt x="2109" y="1406"/>
                    <a:pt x="2109" y="901"/>
                  </a:cubicBezTo>
                  <a:cubicBezTo>
                    <a:pt x="2109" y="355"/>
                    <a:pt x="1668" y="0"/>
                    <a:pt x="1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2"/>
            <p:cNvSpPr/>
            <p:nvPr/>
          </p:nvSpPr>
          <p:spPr>
            <a:xfrm>
              <a:off x="3925901" y="3964161"/>
              <a:ext cx="124914" cy="117365"/>
            </a:xfrm>
            <a:custGeom>
              <a:avLst/>
              <a:gdLst/>
              <a:ahLst/>
              <a:cxnLst/>
              <a:rect l="l" t="t" r="r" b="b"/>
              <a:pathLst>
                <a:path w="4765" h="4477" extrusionOk="0">
                  <a:moveTo>
                    <a:pt x="2716" y="1"/>
                  </a:moveTo>
                  <a:cubicBezTo>
                    <a:pt x="2701" y="1"/>
                    <a:pt x="2686" y="1"/>
                    <a:pt x="2671" y="1"/>
                  </a:cubicBezTo>
                  <a:cubicBezTo>
                    <a:pt x="2180" y="1"/>
                    <a:pt x="1718" y="145"/>
                    <a:pt x="1314" y="434"/>
                  </a:cubicBezTo>
                  <a:cubicBezTo>
                    <a:pt x="1304" y="441"/>
                    <a:pt x="1294" y="444"/>
                    <a:pt x="1284" y="444"/>
                  </a:cubicBezTo>
                  <a:cubicBezTo>
                    <a:pt x="1248" y="444"/>
                    <a:pt x="1213" y="410"/>
                    <a:pt x="1213" y="376"/>
                  </a:cubicBezTo>
                  <a:lnTo>
                    <a:pt x="1213" y="59"/>
                  </a:lnTo>
                  <a:cubicBezTo>
                    <a:pt x="1213" y="30"/>
                    <a:pt x="1170" y="1"/>
                    <a:pt x="1141" y="1"/>
                  </a:cubicBezTo>
                  <a:lnTo>
                    <a:pt x="58" y="1"/>
                  </a:lnTo>
                  <a:cubicBezTo>
                    <a:pt x="29" y="1"/>
                    <a:pt x="1" y="30"/>
                    <a:pt x="1" y="59"/>
                  </a:cubicBezTo>
                  <a:lnTo>
                    <a:pt x="1" y="4389"/>
                  </a:lnTo>
                  <a:cubicBezTo>
                    <a:pt x="1" y="4433"/>
                    <a:pt x="29" y="4462"/>
                    <a:pt x="58" y="4462"/>
                  </a:cubicBezTo>
                  <a:lnTo>
                    <a:pt x="1430" y="4462"/>
                  </a:lnTo>
                  <a:cubicBezTo>
                    <a:pt x="1473" y="4462"/>
                    <a:pt x="1502" y="4433"/>
                    <a:pt x="1502" y="4389"/>
                  </a:cubicBezTo>
                  <a:lnTo>
                    <a:pt x="1502" y="2859"/>
                  </a:lnTo>
                  <a:cubicBezTo>
                    <a:pt x="1502" y="2354"/>
                    <a:pt x="1617" y="1502"/>
                    <a:pt x="2382" y="1502"/>
                  </a:cubicBezTo>
                  <a:cubicBezTo>
                    <a:pt x="3133" y="1502"/>
                    <a:pt x="3249" y="2354"/>
                    <a:pt x="3249" y="2859"/>
                  </a:cubicBezTo>
                  <a:lnTo>
                    <a:pt x="3249" y="4404"/>
                  </a:lnTo>
                  <a:cubicBezTo>
                    <a:pt x="3249" y="4433"/>
                    <a:pt x="3277" y="4462"/>
                    <a:pt x="3321" y="4462"/>
                  </a:cubicBezTo>
                  <a:lnTo>
                    <a:pt x="3321" y="4476"/>
                  </a:lnTo>
                  <a:lnTo>
                    <a:pt x="4692" y="4476"/>
                  </a:lnTo>
                  <a:cubicBezTo>
                    <a:pt x="4721" y="4476"/>
                    <a:pt x="4750" y="4433"/>
                    <a:pt x="4750" y="4404"/>
                  </a:cubicBezTo>
                  <a:lnTo>
                    <a:pt x="4750" y="2383"/>
                  </a:lnTo>
                  <a:cubicBezTo>
                    <a:pt x="4764" y="1806"/>
                    <a:pt x="4591" y="1243"/>
                    <a:pt x="4259" y="766"/>
                  </a:cubicBezTo>
                  <a:cubicBezTo>
                    <a:pt x="3893" y="287"/>
                    <a:pt x="3320" y="1"/>
                    <a:pt x="27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95" name="Google Shape;1495;p62"/>
          <p:cNvGrpSpPr/>
          <p:nvPr/>
        </p:nvGrpSpPr>
        <p:grpSpPr>
          <a:xfrm>
            <a:off x="5348803" y="2955178"/>
            <a:ext cx="268743" cy="264258"/>
            <a:chOff x="3314750" y="3817357"/>
            <a:chExt cx="362920" cy="356865"/>
          </a:xfrm>
        </p:grpSpPr>
        <p:grpSp>
          <p:nvGrpSpPr>
            <p:cNvPr id="1496" name="Google Shape;1496;p62"/>
            <p:cNvGrpSpPr/>
            <p:nvPr/>
          </p:nvGrpSpPr>
          <p:grpSpPr>
            <a:xfrm>
              <a:off x="3314750" y="3817357"/>
              <a:ext cx="362920" cy="356865"/>
              <a:chOff x="3314750" y="3817357"/>
              <a:chExt cx="362920" cy="356865"/>
            </a:xfrm>
          </p:grpSpPr>
          <p:sp>
            <p:nvSpPr>
              <p:cNvPr id="1497" name="Google Shape;1497;p62"/>
              <p:cNvSpPr/>
              <p:nvPr/>
            </p:nvSpPr>
            <p:spPr>
              <a:xfrm>
                <a:off x="3314750" y="3817357"/>
                <a:ext cx="356865" cy="356498"/>
              </a:xfrm>
              <a:custGeom>
                <a:avLst/>
                <a:gdLst/>
                <a:ahLst/>
                <a:cxnLst/>
                <a:rect l="l" t="t" r="r" b="b"/>
                <a:pathLst>
                  <a:path w="13613" h="13599" extrusionOk="0">
                    <a:moveTo>
                      <a:pt x="6814" y="0"/>
                    </a:moveTo>
                    <a:cubicBezTo>
                      <a:pt x="3046" y="0"/>
                      <a:pt x="0" y="3046"/>
                      <a:pt x="0" y="6799"/>
                    </a:cubicBezTo>
                    <a:cubicBezTo>
                      <a:pt x="0" y="10552"/>
                      <a:pt x="3046" y="13598"/>
                      <a:pt x="6814" y="13598"/>
                    </a:cubicBezTo>
                    <a:cubicBezTo>
                      <a:pt x="10567" y="13598"/>
                      <a:pt x="13613" y="10552"/>
                      <a:pt x="13613" y="6799"/>
                    </a:cubicBezTo>
                    <a:cubicBezTo>
                      <a:pt x="13613" y="3046"/>
                      <a:pt x="10567" y="0"/>
                      <a:pt x="681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62"/>
              <p:cNvSpPr/>
              <p:nvPr/>
            </p:nvSpPr>
            <p:spPr>
              <a:xfrm>
                <a:off x="3469891" y="3817357"/>
                <a:ext cx="207780" cy="356865"/>
              </a:xfrm>
              <a:custGeom>
                <a:avLst/>
                <a:gdLst/>
                <a:ahLst/>
                <a:cxnLst/>
                <a:rect l="l" t="t" r="r" b="b"/>
                <a:pathLst>
                  <a:path w="7926" h="13613" extrusionOk="0">
                    <a:moveTo>
                      <a:pt x="881" y="0"/>
                    </a:moveTo>
                    <a:cubicBezTo>
                      <a:pt x="884" y="0"/>
                      <a:pt x="886" y="0"/>
                      <a:pt x="888" y="0"/>
                    </a:cubicBezTo>
                    <a:lnTo>
                      <a:pt x="888" y="0"/>
                    </a:lnTo>
                    <a:cubicBezTo>
                      <a:pt x="891" y="0"/>
                      <a:pt x="893" y="0"/>
                      <a:pt x="896" y="0"/>
                    </a:cubicBezTo>
                    <a:close/>
                    <a:moveTo>
                      <a:pt x="888" y="0"/>
                    </a:moveTo>
                    <a:lnTo>
                      <a:pt x="888" y="0"/>
                    </a:lnTo>
                    <a:cubicBezTo>
                      <a:pt x="588" y="0"/>
                      <a:pt x="301" y="15"/>
                      <a:pt x="1" y="58"/>
                    </a:cubicBezTo>
                    <a:cubicBezTo>
                      <a:pt x="3393" y="491"/>
                      <a:pt x="5934" y="3378"/>
                      <a:pt x="5934" y="6799"/>
                    </a:cubicBezTo>
                    <a:cubicBezTo>
                      <a:pt x="5934" y="10220"/>
                      <a:pt x="3393" y="13107"/>
                      <a:pt x="1" y="13555"/>
                    </a:cubicBezTo>
                    <a:cubicBezTo>
                      <a:pt x="299" y="13594"/>
                      <a:pt x="595" y="13612"/>
                      <a:pt x="887" y="13612"/>
                    </a:cubicBezTo>
                    <a:cubicBezTo>
                      <a:pt x="4418" y="13612"/>
                      <a:pt x="7441" y="10873"/>
                      <a:pt x="7680" y="7247"/>
                    </a:cubicBezTo>
                    <a:cubicBezTo>
                      <a:pt x="7926" y="3323"/>
                      <a:pt x="4826" y="4"/>
                      <a:pt x="888" y="0"/>
                    </a:cubicBezTo>
                    <a:close/>
                  </a:path>
                </a:pathLst>
              </a:custGeom>
              <a:solidFill>
                <a:srgbClr val="000000">
                  <a:alpha val="263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9" name="Google Shape;1499;p62"/>
            <p:cNvGrpSpPr/>
            <p:nvPr/>
          </p:nvGrpSpPr>
          <p:grpSpPr>
            <a:xfrm>
              <a:off x="3394986" y="3894612"/>
              <a:ext cx="202339" cy="202323"/>
              <a:chOff x="935197" y="1793977"/>
              <a:chExt cx="256451" cy="256430"/>
            </a:xfrm>
          </p:grpSpPr>
          <p:sp>
            <p:nvSpPr>
              <p:cNvPr id="1500" name="Google Shape;1500;p62"/>
              <p:cNvSpPr/>
              <p:nvPr/>
            </p:nvSpPr>
            <p:spPr>
              <a:xfrm>
                <a:off x="935197" y="1793977"/>
                <a:ext cx="256451" cy="256430"/>
              </a:xfrm>
              <a:custGeom>
                <a:avLst/>
                <a:gdLst/>
                <a:ahLst/>
                <a:cxnLst/>
                <a:rect l="l" t="t" r="r" b="b"/>
                <a:pathLst>
                  <a:path w="12288" h="12287" extrusionOk="0">
                    <a:moveTo>
                      <a:pt x="10053" y="1117"/>
                    </a:moveTo>
                    <a:cubicBezTo>
                      <a:pt x="10669" y="1117"/>
                      <a:pt x="11171" y="1617"/>
                      <a:pt x="11171" y="2233"/>
                    </a:cubicBezTo>
                    <a:cubicBezTo>
                      <a:pt x="11170" y="2850"/>
                      <a:pt x="10669" y="3351"/>
                      <a:pt x="10053" y="3351"/>
                    </a:cubicBezTo>
                    <a:cubicBezTo>
                      <a:pt x="9438" y="3351"/>
                      <a:pt x="8937" y="2850"/>
                      <a:pt x="8937" y="2233"/>
                    </a:cubicBezTo>
                    <a:cubicBezTo>
                      <a:pt x="8937" y="1617"/>
                      <a:pt x="9438" y="1117"/>
                      <a:pt x="10053" y="1117"/>
                    </a:cubicBezTo>
                    <a:close/>
                    <a:moveTo>
                      <a:pt x="6144" y="2233"/>
                    </a:moveTo>
                    <a:cubicBezTo>
                      <a:pt x="8300" y="2233"/>
                      <a:pt x="10053" y="3988"/>
                      <a:pt x="10053" y="6144"/>
                    </a:cubicBezTo>
                    <a:cubicBezTo>
                      <a:pt x="10053" y="8299"/>
                      <a:pt x="8300" y="10054"/>
                      <a:pt x="6144" y="10054"/>
                    </a:cubicBezTo>
                    <a:cubicBezTo>
                      <a:pt x="3989" y="10054"/>
                      <a:pt x="2234" y="8299"/>
                      <a:pt x="2234" y="6144"/>
                    </a:cubicBezTo>
                    <a:cubicBezTo>
                      <a:pt x="2234" y="3988"/>
                      <a:pt x="3987" y="2233"/>
                      <a:pt x="6144" y="2233"/>
                    </a:cubicBezTo>
                    <a:close/>
                    <a:moveTo>
                      <a:pt x="1675" y="1"/>
                    </a:moveTo>
                    <a:cubicBezTo>
                      <a:pt x="752" y="1"/>
                      <a:pt x="0" y="751"/>
                      <a:pt x="0" y="1676"/>
                    </a:cubicBezTo>
                    <a:lnTo>
                      <a:pt x="0" y="10611"/>
                    </a:lnTo>
                    <a:cubicBezTo>
                      <a:pt x="0" y="11536"/>
                      <a:pt x="752" y="12286"/>
                      <a:pt x="1675" y="12286"/>
                    </a:cubicBezTo>
                    <a:lnTo>
                      <a:pt x="10612" y="12286"/>
                    </a:lnTo>
                    <a:cubicBezTo>
                      <a:pt x="11536" y="12286"/>
                      <a:pt x="12288" y="11536"/>
                      <a:pt x="12288" y="10611"/>
                    </a:cubicBezTo>
                    <a:lnTo>
                      <a:pt x="12288" y="1676"/>
                    </a:lnTo>
                    <a:cubicBezTo>
                      <a:pt x="12288" y="752"/>
                      <a:pt x="11536" y="1"/>
                      <a:pt x="106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62"/>
              <p:cNvSpPr/>
              <p:nvPr/>
            </p:nvSpPr>
            <p:spPr>
              <a:xfrm>
                <a:off x="1005109" y="1863910"/>
                <a:ext cx="116622" cy="116559"/>
              </a:xfrm>
              <a:custGeom>
                <a:avLst/>
                <a:gdLst/>
                <a:ahLst/>
                <a:cxnLst/>
                <a:rect l="l" t="t" r="r" b="b"/>
                <a:pathLst>
                  <a:path w="5588" h="5585" extrusionOk="0">
                    <a:moveTo>
                      <a:pt x="2794" y="0"/>
                    </a:moveTo>
                    <a:cubicBezTo>
                      <a:pt x="1255" y="0"/>
                      <a:pt x="1" y="1252"/>
                      <a:pt x="1" y="2793"/>
                    </a:cubicBezTo>
                    <a:cubicBezTo>
                      <a:pt x="1" y="4332"/>
                      <a:pt x="1255" y="5585"/>
                      <a:pt x="2794" y="5585"/>
                    </a:cubicBezTo>
                    <a:cubicBezTo>
                      <a:pt x="4333" y="5585"/>
                      <a:pt x="5587" y="4332"/>
                      <a:pt x="5587" y="2793"/>
                    </a:cubicBezTo>
                    <a:cubicBezTo>
                      <a:pt x="5587" y="1252"/>
                      <a:pt x="4333" y="0"/>
                      <a:pt x="27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02" name="Google Shape;1502;p62"/>
          <p:cNvGrpSpPr/>
          <p:nvPr/>
        </p:nvGrpSpPr>
        <p:grpSpPr>
          <a:xfrm>
            <a:off x="4689638" y="2955299"/>
            <a:ext cx="268743" cy="264258"/>
            <a:chOff x="2866317" y="3817357"/>
            <a:chExt cx="362920" cy="356865"/>
          </a:xfrm>
        </p:grpSpPr>
        <p:sp>
          <p:nvSpPr>
            <p:cNvPr id="1503" name="Google Shape;1503;p62"/>
            <p:cNvSpPr/>
            <p:nvPr/>
          </p:nvSpPr>
          <p:spPr>
            <a:xfrm>
              <a:off x="2866317" y="3817357"/>
              <a:ext cx="356865" cy="356498"/>
            </a:xfrm>
            <a:custGeom>
              <a:avLst/>
              <a:gdLst/>
              <a:ahLst/>
              <a:cxnLst/>
              <a:rect l="l" t="t" r="r" b="b"/>
              <a:pathLst>
                <a:path w="13613" h="13599" extrusionOk="0">
                  <a:moveTo>
                    <a:pt x="6799" y="0"/>
                  </a:moveTo>
                  <a:cubicBezTo>
                    <a:pt x="3046" y="0"/>
                    <a:pt x="0" y="3046"/>
                    <a:pt x="0" y="6799"/>
                  </a:cubicBezTo>
                  <a:cubicBezTo>
                    <a:pt x="0" y="10552"/>
                    <a:pt x="3046" y="13598"/>
                    <a:pt x="6799" y="13598"/>
                  </a:cubicBezTo>
                  <a:cubicBezTo>
                    <a:pt x="10567" y="13598"/>
                    <a:pt x="13613" y="10552"/>
                    <a:pt x="13613" y="6799"/>
                  </a:cubicBezTo>
                  <a:cubicBezTo>
                    <a:pt x="13613" y="3046"/>
                    <a:pt x="10567" y="0"/>
                    <a:pt x="67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62"/>
            <p:cNvSpPr/>
            <p:nvPr/>
          </p:nvSpPr>
          <p:spPr>
            <a:xfrm>
              <a:off x="3021457" y="3817357"/>
              <a:ext cx="207780" cy="356576"/>
            </a:xfrm>
            <a:custGeom>
              <a:avLst/>
              <a:gdLst/>
              <a:ahLst/>
              <a:cxnLst/>
              <a:rect l="l" t="t" r="r" b="b"/>
              <a:pathLst>
                <a:path w="7926" h="13602" extrusionOk="0">
                  <a:moveTo>
                    <a:pt x="881" y="0"/>
                  </a:moveTo>
                  <a:cubicBezTo>
                    <a:pt x="593" y="0"/>
                    <a:pt x="290" y="15"/>
                    <a:pt x="1" y="58"/>
                  </a:cubicBezTo>
                  <a:cubicBezTo>
                    <a:pt x="3379" y="505"/>
                    <a:pt x="5919" y="3378"/>
                    <a:pt x="5919" y="6799"/>
                  </a:cubicBezTo>
                  <a:cubicBezTo>
                    <a:pt x="5919" y="10220"/>
                    <a:pt x="3379" y="13093"/>
                    <a:pt x="1" y="13541"/>
                  </a:cubicBezTo>
                  <a:cubicBezTo>
                    <a:pt x="306" y="13581"/>
                    <a:pt x="610" y="13601"/>
                    <a:pt x="909" y="13601"/>
                  </a:cubicBezTo>
                  <a:cubicBezTo>
                    <a:pt x="4431" y="13601"/>
                    <a:pt x="7440" y="10865"/>
                    <a:pt x="7666" y="7247"/>
                  </a:cubicBezTo>
                  <a:cubicBezTo>
                    <a:pt x="7926" y="3320"/>
                    <a:pt x="4822" y="0"/>
                    <a:pt x="881" y="0"/>
                  </a:cubicBezTo>
                  <a:close/>
                </a:path>
              </a:pathLst>
            </a:custGeom>
            <a:solidFill>
              <a:srgbClr val="000000">
                <a:alpha val="263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62"/>
            <p:cNvSpPr/>
            <p:nvPr/>
          </p:nvSpPr>
          <p:spPr>
            <a:xfrm>
              <a:off x="2928367" y="3894561"/>
              <a:ext cx="194175" cy="279662"/>
            </a:xfrm>
            <a:custGeom>
              <a:avLst/>
              <a:gdLst/>
              <a:ahLst/>
              <a:cxnLst/>
              <a:rect l="l" t="t" r="r" b="b"/>
              <a:pathLst>
                <a:path w="7407" h="10668" extrusionOk="0">
                  <a:moveTo>
                    <a:pt x="6208" y="0"/>
                  </a:moveTo>
                  <a:cubicBezTo>
                    <a:pt x="4086" y="14"/>
                    <a:pt x="2079" y="1732"/>
                    <a:pt x="2079" y="3854"/>
                  </a:cubicBezTo>
                  <a:lnTo>
                    <a:pt x="2079" y="4114"/>
                  </a:lnTo>
                  <a:cubicBezTo>
                    <a:pt x="2079" y="4129"/>
                    <a:pt x="2051" y="4157"/>
                    <a:pt x="2036" y="4157"/>
                  </a:cubicBezTo>
                  <a:lnTo>
                    <a:pt x="174" y="4157"/>
                  </a:lnTo>
                  <a:cubicBezTo>
                    <a:pt x="73" y="4157"/>
                    <a:pt x="1" y="4230"/>
                    <a:pt x="1" y="4331"/>
                  </a:cubicBezTo>
                  <a:lnTo>
                    <a:pt x="1" y="6048"/>
                  </a:lnTo>
                  <a:cubicBezTo>
                    <a:pt x="1" y="6149"/>
                    <a:pt x="73" y="6236"/>
                    <a:pt x="174" y="6236"/>
                  </a:cubicBezTo>
                  <a:lnTo>
                    <a:pt x="2036" y="6236"/>
                  </a:lnTo>
                  <a:cubicBezTo>
                    <a:pt x="2051" y="6236"/>
                    <a:pt x="2079" y="6251"/>
                    <a:pt x="2079" y="6279"/>
                  </a:cubicBezTo>
                  <a:lnTo>
                    <a:pt x="2079" y="10220"/>
                  </a:lnTo>
                  <a:cubicBezTo>
                    <a:pt x="2079" y="10235"/>
                    <a:pt x="2079" y="10249"/>
                    <a:pt x="2108" y="10264"/>
                  </a:cubicBezTo>
                  <a:cubicBezTo>
                    <a:pt x="2743" y="10495"/>
                    <a:pt x="3422" y="10624"/>
                    <a:pt x="4100" y="10668"/>
                  </a:cubicBezTo>
                  <a:cubicBezTo>
                    <a:pt x="4129" y="10668"/>
                    <a:pt x="4144" y="10639"/>
                    <a:pt x="4144" y="10624"/>
                  </a:cubicBezTo>
                  <a:lnTo>
                    <a:pt x="4144" y="6279"/>
                  </a:lnTo>
                  <a:cubicBezTo>
                    <a:pt x="4144" y="6251"/>
                    <a:pt x="4158" y="6236"/>
                    <a:pt x="4187" y="6236"/>
                  </a:cubicBezTo>
                  <a:lnTo>
                    <a:pt x="7218" y="6236"/>
                  </a:lnTo>
                  <a:cubicBezTo>
                    <a:pt x="7319" y="6236"/>
                    <a:pt x="7406" y="6149"/>
                    <a:pt x="7406" y="6048"/>
                  </a:cubicBezTo>
                  <a:lnTo>
                    <a:pt x="7406" y="4331"/>
                  </a:lnTo>
                  <a:cubicBezTo>
                    <a:pt x="7406" y="4230"/>
                    <a:pt x="7319" y="4143"/>
                    <a:pt x="7218" y="4143"/>
                  </a:cubicBezTo>
                  <a:lnTo>
                    <a:pt x="4187" y="4143"/>
                  </a:lnTo>
                  <a:cubicBezTo>
                    <a:pt x="4158" y="4143"/>
                    <a:pt x="4144" y="4129"/>
                    <a:pt x="4144" y="4100"/>
                  </a:cubicBezTo>
                  <a:lnTo>
                    <a:pt x="4144" y="3854"/>
                  </a:lnTo>
                  <a:cubicBezTo>
                    <a:pt x="4144" y="2714"/>
                    <a:pt x="5068" y="2079"/>
                    <a:pt x="6208" y="2079"/>
                  </a:cubicBezTo>
                  <a:lnTo>
                    <a:pt x="7218" y="2079"/>
                  </a:lnTo>
                  <a:cubicBezTo>
                    <a:pt x="7319" y="2079"/>
                    <a:pt x="7406" y="1992"/>
                    <a:pt x="7406" y="1891"/>
                  </a:cubicBezTo>
                  <a:lnTo>
                    <a:pt x="7406" y="173"/>
                  </a:lnTo>
                  <a:cubicBezTo>
                    <a:pt x="7406" y="72"/>
                    <a:pt x="7319" y="0"/>
                    <a:pt x="72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6" name="Google Shape;1506;p62"/>
          <p:cNvSpPr txBox="1"/>
          <p:nvPr/>
        </p:nvSpPr>
        <p:spPr>
          <a:xfrm rot="-1090">
            <a:off x="4576375" y="4209539"/>
            <a:ext cx="3785400" cy="3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  <a:latin typeface="Arvo"/>
                <a:ea typeface="Arvo"/>
                <a:cs typeface="Arvo"/>
                <a:sym typeface="Arvo"/>
              </a:rPr>
              <a:t>Please keep this slide as attribution</a:t>
            </a:r>
            <a:endParaRPr>
              <a:solidFill>
                <a:schemeClr val="accent3"/>
              </a:solidFill>
              <a:latin typeface="Arvo"/>
              <a:ea typeface="Arvo"/>
              <a:cs typeface="Arvo"/>
              <a:sym typeface="Arvo"/>
            </a:endParaRPr>
          </a:p>
        </p:txBody>
      </p:sp>
      <p:pic>
        <p:nvPicPr>
          <p:cNvPr id="1507" name="Google Shape;1507;p62"/>
          <p:cNvPicPr preferRelativeResize="0"/>
          <p:nvPr/>
        </p:nvPicPr>
        <p:blipFill rotWithShape="1">
          <a:blip r:embed="rId4">
            <a:alphaModFix/>
          </a:blip>
          <a:srcRect b="35897"/>
          <a:stretch/>
        </p:blipFill>
        <p:spPr>
          <a:xfrm>
            <a:off x="1308125" y="789371"/>
            <a:ext cx="2244150" cy="4518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5" name="Google Shape;2125;p65"/>
          <p:cNvSpPr txBox="1">
            <a:spLocks noGrp="1"/>
          </p:cNvSpPr>
          <p:nvPr>
            <p:ph type="body" idx="1"/>
          </p:nvPr>
        </p:nvSpPr>
        <p:spPr>
          <a:xfrm>
            <a:off x="713225" y="882250"/>
            <a:ext cx="7717500" cy="37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buAutoNum type="arabicPeriod"/>
            </a:pPr>
            <a:r>
              <a:rPr lang="en-CA" dirty="0">
                <a:hlinkClick r:id="rId3"/>
              </a:rPr>
              <a:t>Rivest-Shamir-Adleman Photo</a:t>
            </a:r>
            <a:endParaRPr lang="en-CA" dirty="0"/>
          </a:p>
          <a:p>
            <a:pPr marL="342900" lvl="0" indent="-342900">
              <a:buAutoNum type="arabicPeriod"/>
            </a:pPr>
            <a:r>
              <a:rPr lang="en-CA" dirty="0">
                <a:hlinkClick r:id="rId4"/>
              </a:rPr>
              <a:t>Lebron James you are my Sunshine</a:t>
            </a:r>
            <a:endParaRPr lang="en-CA" dirty="0"/>
          </a:p>
          <a:p>
            <a:pPr marL="342900" lvl="0" indent="-342900">
              <a:buAutoNum type="arabicPeriod"/>
            </a:pPr>
            <a:r>
              <a:rPr lang="en-CA" dirty="0">
                <a:hlinkClick r:id="rId5"/>
              </a:rPr>
              <a:t>Monkey looking away template</a:t>
            </a:r>
            <a:endParaRPr lang="en-CA" dirty="0"/>
          </a:p>
          <a:p>
            <a:pPr marL="342900" lvl="0" indent="-342900">
              <a:buAutoNum type="arabicPeriod"/>
            </a:pPr>
            <a:endParaRPr dirty="0"/>
          </a:p>
        </p:txBody>
      </p:sp>
      <p:sp>
        <p:nvSpPr>
          <p:cNvPr id="2126" name="Google Shape;2126;p65"/>
          <p:cNvSpPr txBox="1">
            <a:spLocks noGrp="1"/>
          </p:cNvSpPr>
          <p:nvPr>
            <p:ph type="title"/>
          </p:nvPr>
        </p:nvSpPr>
        <p:spPr>
          <a:xfrm>
            <a:off x="713225" y="448056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pic>
        <p:nvPicPr>
          <p:cNvPr id="2127" name="Google Shape;2127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96700" y="2702100"/>
            <a:ext cx="881185" cy="2465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iterature's Genius Fictional Detective Style MK Campaign by Slidesgo">
  <a:themeElements>
    <a:clrScheme name="Simple Light">
      <a:dk1>
        <a:srgbClr val="8D646E"/>
      </a:dk1>
      <a:lt1>
        <a:srgbClr val="6C4952"/>
      </a:lt1>
      <a:dk2>
        <a:srgbClr val="944545"/>
      </a:dk2>
      <a:lt2>
        <a:srgbClr val="EB5759"/>
      </a:lt2>
      <a:accent1>
        <a:srgbClr val="FDCD6A"/>
      </a:accent1>
      <a:accent2>
        <a:srgbClr val="EBD6A8"/>
      </a:accent2>
      <a:accent3>
        <a:srgbClr val="FFFAD6"/>
      </a:accent3>
      <a:accent4>
        <a:srgbClr val="7DC3ED"/>
      </a:accent4>
      <a:accent5>
        <a:srgbClr val="C0E2E2"/>
      </a:accent5>
      <a:accent6>
        <a:srgbClr val="B4BC40"/>
      </a:accent6>
      <a:hlink>
        <a:srgbClr val="FFFAD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648</Words>
  <Application>Microsoft Office PowerPoint</Application>
  <PresentationFormat>On-screen Show (16:9)</PresentationFormat>
  <Paragraphs>93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Arvo</vt:lpstr>
      <vt:lpstr>Bowlby One SC</vt:lpstr>
      <vt:lpstr>Literature's Genius Fictional Detective Style MK Campaign by Slidesgo</vt:lpstr>
      <vt:lpstr>Cryptography - 2</vt:lpstr>
      <vt:lpstr>So Far..</vt:lpstr>
      <vt:lpstr>What About some Real Life Examples?</vt:lpstr>
      <vt:lpstr>Checking Our Browser’s  Cryptography in Action</vt:lpstr>
      <vt:lpstr>A Few More Examples</vt:lpstr>
      <vt:lpstr>Activity!</vt:lpstr>
      <vt:lpstr>Awesome Work!</vt:lpstr>
      <vt:lpstr>Signatures!</vt:lpstr>
      <vt:lpstr>How Do We Know who the Sender Is?</vt:lpstr>
      <vt:lpstr>Let’s Learn with an Activity</vt:lpstr>
      <vt:lpstr>Signatures Protect you From:</vt:lpstr>
      <vt:lpstr>Steganography</vt:lpstr>
      <vt:lpstr>Steganography – What is it?</vt:lpstr>
      <vt:lpstr>Steganography – What is it?</vt:lpstr>
      <vt:lpstr>But….</vt:lpstr>
      <vt:lpstr>SteganoGraphy Activity</vt:lpstr>
      <vt:lpstr>Conclusion</vt:lpstr>
      <vt:lpstr>So, What did we Learn Today..</vt:lpstr>
      <vt:lpstr>THANK you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Glen Issac</dc:creator>
  <cp:lastModifiedBy>Glen Issac</cp:lastModifiedBy>
  <cp:revision>6</cp:revision>
  <dcterms:modified xsi:type="dcterms:W3CDTF">2025-11-26T01:17:28Z</dcterms:modified>
</cp:coreProperties>
</file>