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0"/>
  </p:notesMasterIdLst>
  <p:sldIdLst>
    <p:sldId id="256" r:id="rId2"/>
    <p:sldId id="262" r:id="rId3"/>
    <p:sldId id="258" r:id="rId4"/>
    <p:sldId id="259" r:id="rId5"/>
    <p:sldId id="312" r:id="rId6"/>
    <p:sldId id="313" r:id="rId7"/>
    <p:sldId id="314" r:id="rId8"/>
    <p:sldId id="315" r:id="rId9"/>
    <p:sldId id="270" r:id="rId10"/>
    <p:sldId id="309" r:id="rId11"/>
    <p:sldId id="317" r:id="rId12"/>
    <p:sldId id="318" r:id="rId13"/>
    <p:sldId id="316" r:id="rId14"/>
    <p:sldId id="319" r:id="rId15"/>
    <p:sldId id="310" r:id="rId16"/>
    <p:sldId id="311" r:id="rId17"/>
    <p:sldId id="287" r:id="rId18"/>
    <p:sldId id="290" r:id="rId19"/>
  </p:sldIdLst>
  <p:sldSz cx="9144000" cy="5143500" type="screen16x9"/>
  <p:notesSz cx="6858000" cy="9144000"/>
  <p:embeddedFontLst>
    <p:embeddedFont>
      <p:font typeface="Arvo" panose="020B0604020202020204" charset="0"/>
      <p:regular r:id="rId21"/>
      <p:bold r:id="rId22"/>
      <p:italic r:id="rId23"/>
      <p:boldItalic r:id="rId24"/>
    </p:embeddedFont>
    <p:embeddedFont>
      <p:font typeface="Bowlby One SC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F583A3-B1EB-498A-985F-90B5312E866B}">
  <a:tblStyle styleId="{64F583A3-B1EB-498A-985F-90B5312E86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3628a81ae_0_39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23628a81ae_0_39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212c4c92bf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212c4c92bf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F90193C-64EE-5D11-6EE8-BEA007D1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3B5DABD4-230C-D415-7EC1-92E1AABEF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363551FA-036C-A0D4-67BD-D5E37F12F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9309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C706A6E-CF8B-9545-9259-AC816EB8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7949C601-9618-DB04-3E7A-D96A41972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3E45DA65-6B9B-7E84-2366-495D1191D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183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43EDBB83-71BD-97EB-4BEE-CE0E971E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56C0A368-8A9E-4DC6-0731-6C0A6C7D6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D65B0523-B276-A6C2-E675-E85C70571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652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7CBB8048-D217-4988-A710-B6A27356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27908E4D-C61F-4BA1-B723-9F98626D9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DAD141C1-FDF3-300F-9604-8420110E6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23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22ecb60be0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22ecb60be0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5BD2E630-B640-1E92-BE7B-80213E7E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>
            <a:extLst>
              <a:ext uri="{FF2B5EF4-FFF2-40B4-BE49-F238E27FC236}">
                <a16:creationId xmlns:a16="http://schemas.microsoft.com/office/drawing/2014/main" id="{E18614A1-8560-0975-2337-9117ECFD0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>
            <a:extLst>
              <a:ext uri="{FF2B5EF4-FFF2-40B4-BE49-F238E27FC236}">
                <a16:creationId xmlns:a16="http://schemas.microsoft.com/office/drawing/2014/main" id="{59D145ED-D948-A6AE-F085-967C53808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807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6EA4097F-76DA-265A-4951-52E2CE0D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A18F321D-25D0-669E-F8CD-6B90830AB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14ECB5D9-B432-4F06-250C-44A3A740A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126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0D2C7954-C5C6-977D-5BE5-3213B4A6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E46EB5CB-A8EA-355E-6198-CBD7CC17A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5284FB99-5E4C-779A-F07B-B44334D96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504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9CB606F7-B42A-A222-AEE3-4DE76541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841F55B1-A679-1B5E-AD11-7FCA6F18E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55392C5D-42EF-CAB7-741E-0F63AF92B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052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BAD9FFAB-0DFA-F1DE-A4E5-E5B24E90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CE0300B2-4BE8-7AA4-5518-8F83DBB4A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AB3E9401-96D1-DF9A-A537-3697896D1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58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B36999E6-B4E9-CEAE-820A-8893B5E1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>
            <a:extLst>
              <a:ext uri="{FF2B5EF4-FFF2-40B4-BE49-F238E27FC236}">
                <a16:creationId xmlns:a16="http://schemas.microsoft.com/office/drawing/2014/main" id="{C2FC70A9-CF4C-1AB8-C441-D2A4299DD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>
            <a:extLst>
              <a:ext uri="{FF2B5EF4-FFF2-40B4-BE49-F238E27FC236}">
                <a16:creationId xmlns:a16="http://schemas.microsoft.com/office/drawing/2014/main" id="{608E11DF-92AD-BD1D-D308-9085E68F0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370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79B58D74-B51C-5C31-2E09-8B608FE3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>
            <a:extLst>
              <a:ext uri="{FF2B5EF4-FFF2-40B4-BE49-F238E27FC236}">
                <a16:creationId xmlns:a16="http://schemas.microsoft.com/office/drawing/2014/main" id="{1EDCF370-30BF-DDB4-F3AF-9B737318F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>
            <a:extLst>
              <a:ext uri="{FF2B5EF4-FFF2-40B4-BE49-F238E27FC236}">
                <a16:creationId xmlns:a16="http://schemas.microsoft.com/office/drawing/2014/main" id="{DA4852AA-B074-51AD-EA8F-63911805F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275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123628a81ae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123628a81ae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123628a81ae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123628a81ae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26300"/>
            <a:ext cx="4720500" cy="219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93875" y="3462700"/>
            <a:ext cx="37404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865025" y="3131225"/>
            <a:ext cx="38589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3225" y="882250"/>
            <a:ext cx="7717500" cy="3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713225" y="1091725"/>
            <a:ext cx="4545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713225" y="1925725"/>
            <a:ext cx="4050900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13225" y="1455638"/>
            <a:ext cx="4045200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713225" y="2171363"/>
            <a:ext cx="4045200" cy="15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 hasCustomPrompt="1"/>
          </p:nvPr>
        </p:nvSpPr>
        <p:spPr>
          <a:xfrm>
            <a:off x="1335763" y="1311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679513" y="2317708"/>
            <a:ext cx="258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3896313" y="1311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3"/>
          </p:nvPr>
        </p:nvSpPr>
        <p:spPr>
          <a:xfrm>
            <a:off x="3240063" y="2317708"/>
            <a:ext cx="258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6534138" y="1311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5879088" y="2317708"/>
            <a:ext cx="2585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 hasCustomPrompt="1"/>
          </p:nvPr>
        </p:nvSpPr>
        <p:spPr>
          <a:xfrm>
            <a:off x="1335763" y="302852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679513" y="4038755"/>
            <a:ext cx="258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8" hasCustomPrompt="1"/>
          </p:nvPr>
        </p:nvSpPr>
        <p:spPr>
          <a:xfrm>
            <a:off x="3896313" y="302852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9"/>
          </p:nvPr>
        </p:nvSpPr>
        <p:spPr>
          <a:xfrm>
            <a:off x="3240063" y="4038755"/>
            <a:ext cx="258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6534138" y="302852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5879088" y="4038755"/>
            <a:ext cx="2585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6"/>
          </p:nvPr>
        </p:nvSpPr>
        <p:spPr>
          <a:xfrm>
            <a:off x="679513" y="1832900"/>
            <a:ext cx="258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17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240063" y="1832900"/>
            <a:ext cx="2587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17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8"/>
          </p:nvPr>
        </p:nvSpPr>
        <p:spPr>
          <a:xfrm>
            <a:off x="5879088" y="1832900"/>
            <a:ext cx="2585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17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9"/>
          </p:nvPr>
        </p:nvSpPr>
        <p:spPr>
          <a:xfrm>
            <a:off x="679513" y="3558225"/>
            <a:ext cx="25878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17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20"/>
          </p:nvPr>
        </p:nvSpPr>
        <p:spPr>
          <a:xfrm>
            <a:off x="3240063" y="3558225"/>
            <a:ext cx="25878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17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21"/>
          </p:nvPr>
        </p:nvSpPr>
        <p:spPr>
          <a:xfrm>
            <a:off x="5879088" y="3558225"/>
            <a:ext cx="2585400" cy="48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17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wlby One SC"/>
              <a:buNone/>
              <a:defRPr sz="2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2149525" y="2204750"/>
            <a:ext cx="4950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1458125" y="714575"/>
            <a:ext cx="6227700" cy="13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4576381" y="539500"/>
            <a:ext cx="38499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1"/>
          </p:nvPr>
        </p:nvSpPr>
        <p:spPr>
          <a:xfrm>
            <a:off x="4572000" y="1399450"/>
            <a:ext cx="38589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24"/>
          <p:cNvSpPr txBox="1"/>
          <p:nvPr/>
        </p:nvSpPr>
        <p:spPr>
          <a:xfrm rot="-1069">
            <a:off x="4576375" y="3415538"/>
            <a:ext cx="3858900" cy="8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rvo"/>
                <a:ea typeface="Arvo"/>
                <a:cs typeface="Arvo"/>
                <a:sym typeface="Arvo"/>
              </a:rPr>
              <a:t>CREDITS: </a:t>
            </a:r>
            <a:r>
              <a:rPr lang="en" sz="1200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This presentation template was created by </a:t>
            </a:r>
            <a:r>
              <a:rPr lang="en" sz="1200">
                <a:solidFill>
                  <a:schemeClr val="accent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,</a:t>
            </a:r>
            <a:r>
              <a:rPr lang="en" sz="1200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 and includes icons by </a:t>
            </a:r>
            <a:r>
              <a:rPr lang="en" sz="1200">
                <a:solidFill>
                  <a:schemeClr val="accent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,</a:t>
            </a:r>
            <a:r>
              <a:rPr lang="en" sz="1200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 and infographics &amp; images by </a:t>
            </a:r>
            <a:r>
              <a:rPr lang="en" sz="1200">
                <a:solidFill>
                  <a:schemeClr val="accent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accent1"/>
              </a:solidFill>
              <a:latin typeface="Arvo"/>
              <a:ea typeface="Arvo"/>
              <a:cs typeface="Arvo"/>
              <a:sym typeface="Ar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576475" y="4510175"/>
            <a:ext cx="939000" cy="196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73723" y="1126300"/>
            <a:ext cx="518852" cy="5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/>
          </a:blip>
          <a:srcRect l="4866" r="3482"/>
          <a:stretch/>
        </p:blipFill>
        <p:spPr>
          <a:xfrm>
            <a:off x="4572000" y="-826725"/>
            <a:ext cx="3815301" cy="43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25" y="2627575"/>
            <a:ext cx="708051" cy="19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7"/>
          <p:cNvPicPr preferRelativeResize="0"/>
          <p:nvPr/>
        </p:nvPicPr>
        <p:blipFill rotWithShape="1">
          <a:blip r:embed="rId2">
            <a:alphaModFix/>
          </a:blip>
          <a:srcRect t="-18497"/>
          <a:stretch/>
        </p:blipFill>
        <p:spPr>
          <a:xfrm>
            <a:off x="-607750" y="-655350"/>
            <a:ext cx="3697876" cy="385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850" y="2197050"/>
            <a:ext cx="1083351" cy="30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●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○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■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●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○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■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●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○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■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ryptologicfoundation.org/community/cryptologic-history/cryptologic-history-calendar.html/event/2029/09/20/1884574800/1983-three-inventors-receive-patent-for-encryption-algorithm-rsa/78258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/>
        </p:nvSpPr>
        <p:spPr>
          <a:xfrm>
            <a:off x="5030725" y="4476725"/>
            <a:ext cx="3453000" cy="263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1"/>
          <p:cNvSpPr/>
          <p:nvPr/>
        </p:nvSpPr>
        <p:spPr>
          <a:xfrm>
            <a:off x="713225" y="3462850"/>
            <a:ext cx="4010700" cy="339600"/>
          </a:xfrm>
          <a:prstGeom prst="chevron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ctrTitle"/>
          </p:nvPr>
        </p:nvSpPr>
        <p:spPr>
          <a:xfrm>
            <a:off x="713225" y="1126300"/>
            <a:ext cx="4720500" cy="219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accent3"/>
                </a:solidFill>
              </a:rPr>
              <a:t>CRyptography</a:t>
            </a:r>
            <a:endParaRPr u="sng" dirty="0">
              <a:solidFill>
                <a:schemeClr val="accent3"/>
              </a:solidFill>
            </a:endParaRPr>
          </a:p>
        </p:txBody>
      </p:sp>
      <p:sp>
        <p:nvSpPr>
          <p:cNvPr id="151" name="Google Shape;151;p31"/>
          <p:cNvSpPr txBox="1">
            <a:spLocks noGrp="1"/>
          </p:cNvSpPr>
          <p:nvPr>
            <p:ph type="subTitle" idx="1"/>
          </p:nvPr>
        </p:nvSpPr>
        <p:spPr>
          <a:xfrm>
            <a:off x="893875" y="3462700"/>
            <a:ext cx="37404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Sensei Glen  |  Code Ninjas</a:t>
            </a:r>
            <a:endParaRPr dirty="0"/>
          </a:p>
        </p:txBody>
      </p:sp>
      <p:pic>
        <p:nvPicPr>
          <p:cNvPr id="152" name="Google Shape;1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3715" y="1553120"/>
            <a:ext cx="2857051" cy="3055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723" y="1126300"/>
            <a:ext cx="518852" cy="5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1"/>
          <p:cNvPicPr preferRelativeResize="0"/>
          <p:nvPr/>
        </p:nvPicPr>
        <p:blipFill rotWithShape="1">
          <a:blip r:embed="rId5">
            <a:alphaModFix/>
          </a:blip>
          <a:srcRect l="4866" r="3482"/>
          <a:stretch/>
        </p:blipFill>
        <p:spPr>
          <a:xfrm>
            <a:off x="4572000" y="-826725"/>
            <a:ext cx="3815301" cy="4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title"/>
          </p:nvPr>
        </p:nvSpPr>
        <p:spPr>
          <a:xfrm>
            <a:off x="713224" y="1091725"/>
            <a:ext cx="8102884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Ice-breaker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1"/>
          </p:nvPr>
        </p:nvSpPr>
        <p:spPr>
          <a:xfrm>
            <a:off x="713225" y="1925725"/>
            <a:ext cx="8102884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Do you like Detectives?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What is your favourite Detective/Crime Thriller movie?</a:t>
            </a:r>
            <a:endParaRPr dirty="0"/>
          </a:p>
        </p:txBody>
      </p:sp>
      <p:pic>
        <p:nvPicPr>
          <p:cNvPr id="4" name="Google Shape;1107;p54">
            <a:extLst>
              <a:ext uri="{FF2B5EF4-FFF2-40B4-BE49-F238E27FC236}">
                <a16:creationId xmlns:a16="http://schemas.microsoft.com/office/drawing/2014/main" id="{69C3305F-DEB6-C2E2-6C7C-FCEF41F7A5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35228"/>
          <a:stretch/>
        </p:blipFill>
        <p:spPr>
          <a:xfrm>
            <a:off x="3962954" y="2571751"/>
            <a:ext cx="1218091" cy="262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>
            <a:spLocks noGrp="1"/>
          </p:cNvSpPr>
          <p:nvPr>
            <p:ph type="title"/>
          </p:nvPr>
        </p:nvSpPr>
        <p:spPr>
          <a:xfrm>
            <a:off x="1335763" y="1311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9" name="Google Shape;169;p33"/>
          <p:cNvSpPr txBox="1">
            <a:spLocks noGrp="1"/>
          </p:cNvSpPr>
          <p:nvPr>
            <p:ph type="subTitle" idx="1"/>
          </p:nvPr>
        </p:nvSpPr>
        <p:spPr>
          <a:xfrm>
            <a:off x="679513" y="2317708"/>
            <a:ext cx="2587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title" idx="2"/>
          </p:nvPr>
        </p:nvSpPr>
        <p:spPr>
          <a:xfrm>
            <a:off x="3896313" y="1311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ubTitle" idx="3"/>
          </p:nvPr>
        </p:nvSpPr>
        <p:spPr>
          <a:xfrm>
            <a:off x="3240063" y="2317708"/>
            <a:ext cx="2587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title" idx="4"/>
          </p:nvPr>
        </p:nvSpPr>
        <p:spPr>
          <a:xfrm>
            <a:off x="6534138" y="1311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ubTitle" idx="5"/>
          </p:nvPr>
        </p:nvSpPr>
        <p:spPr>
          <a:xfrm>
            <a:off x="5879088" y="2317708"/>
            <a:ext cx="2585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title" idx="6"/>
          </p:nvPr>
        </p:nvSpPr>
        <p:spPr>
          <a:xfrm>
            <a:off x="1335763" y="302852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subTitle" idx="7"/>
          </p:nvPr>
        </p:nvSpPr>
        <p:spPr>
          <a:xfrm>
            <a:off x="679513" y="4038755"/>
            <a:ext cx="2587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title" idx="8"/>
          </p:nvPr>
        </p:nvSpPr>
        <p:spPr>
          <a:xfrm>
            <a:off x="3896313" y="302852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subTitle" idx="9"/>
          </p:nvPr>
        </p:nvSpPr>
        <p:spPr>
          <a:xfrm>
            <a:off x="3240063" y="4038755"/>
            <a:ext cx="2587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title" idx="13"/>
          </p:nvPr>
        </p:nvSpPr>
        <p:spPr>
          <a:xfrm>
            <a:off x="6534138" y="302852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subTitle" idx="14"/>
          </p:nvPr>
        </p:nvSpPr>
        <p:spPr>
          <a:xfrm>
            <a:off x="5879088" y="4038755"/>
            <a:ext cx="2585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TABLE OF </a:t>
            </a:r>
            <a:r>
              <a:rPr lang="en"/>
              <a:t>CONTENTS</a:t>
            </a:r>
            <a:endParaRPr/>
          </a:p>
        </p:txBody>
      </p:sp>
      <p:sp>
        <p:nvSpPr>
          <p:cNvPr id="181" name="Google Shape;181;p33"/>
          <p:cNvSpPr txBox="1">
            <a:spLocks noGrp="1"/>
          </p:cNvSpPr>
          <p:nvPr>
            <p:ph type="subTitle" idx="16"/>
          </p:nvPr>
        </p:nvSpPr>
        <p:spPr>
          <a:xfrm>
            <a:off x="679513" y="1832900"/>
            <a:ext cx="2587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Crypto? Graphy?</a:t>
            </a:r>
            <a:endParaRPr dirty="0"/>
          </a:p>
        </p:txBody>
      </p:sp>
      <p:sp>
        <p:nvSpPr>
          <p:cNvPr id="182" name="Google Shape;182;p33"/>
          <p:cNvSpPr txBox="1">
            <a:spLocks noGrp="1"/>
          </p:cNvSpPr>
          <p:nvPr>
            <p:ph type="subTitle" idx="17"/>
          </p:nvPr>
        </p:nvSpPr>
        <p:spPr>
          <a:xfrm>
            <a:off x="3240063" y="1832900"/>
            <a:ext cx="25878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does it Work?</a:t>
            </a:r>
            <a:endParaRPr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8"/>
          </p:nvPr>
        </p:nvSpPr>
        <p:spPr>
          <a:xfrm>
            <a:off x="5879088" y="1832900"/>
            <a:ext cx="2585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&amp; STRATEGY</a:t>
            </a:r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subTitle" idx="19"/>
          </p:nvPr>
        </p:nvSpPr>
        <p:spPr>
          <a:xfrm>
            <a:off x="679513" y="3558225"/>
            <a:ext cx="2587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PLAN</a:t>
            </a:r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20"/>
          </p:nvPr>
        </p:nvSpPr>
        <p:spPr>
          <a:xfrm>
            <a:off x="3240063" y="3558225"/>
            <a:ext cx="2587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</a:t>
            </a:r>
            <a:endParaRPr/>
          </a:p>
        </p:txBody>
      </p:sp>
      <p:sp>
        <p:nvSpPr>
          <p:cNvPr id="186" name="Google Shape;186;p33"/>
          <p:cNvSpPr txBox="1">
            <a:spLocks noGrp="1"/>
          </p:cNvSpPr>
          <p:nvPr>
            <p:ph type="subTitle" idx="21"/>
          </p:nvPr>
        </p:nvSpPr>
        <p:spPr>
          <a:xfrm>
            <a:off x="5879088" y="3558225"/>
            <a:ext cx="25854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KPI OVERVIEW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38489">
            <a:off x="7528127" y="236720"/>
            <a:ext cx="1805296" cy="1506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>
            <a:spLocks noGrp="1"/>
          </p:cNvSpPr>
          <p:nvPr>
            <p:ph type="title"/>
          </p:nvPr>
        </p:nvSpPr>
        <p:spPr>
          <a:xfrm>
            <a:off x="684174" y="255896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Crypto? Graphy?</a:t>
            </a:r>
            <a:endParaRPr dirty="0"/>
          </a:p>
        </p:txBody>
      </p:sp>
      <p:sp>
        <p:nvSpPr>
          <p:cNvPr id="194" name="Google Shape;194;p34"/>
          <p:cNvSpPr txBox="1">
            <a:spLocks noGrp="1"/>
          </p:cNvSpPr>
          <p:nvPr>
            <p:ph type="title" idx="2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96" name="Google Shape;196;p34"/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274" y="1467601"/>
            <a:ext cx="2140526" cy="516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4E3E22F-6BE8-E060-E58E-B4F2CD74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ECBCEDB9-B702-8B0C-DB48-B55155EB8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4045200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RSA </a:t>
            </a:r>
            <a:r>
              <a:rPr lang="en" dirty="0"/>
              <a:t>CRyptography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EE155E6F-6B49-01C2-D660-51A51662F5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4560814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Cryptography is how we </a:t>
            </a:r>
            <a:r>
              <a:rPr lang="en-CA" i="1" dirty="0"/>
              <a:t>hide</a:t>
            </a:r>
            <a:r>
              <a:rPr lang="en-CA" dirty="0"/>
              <a:t> messages so only the right people can read them.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dirty="0"/>
              <a:t>Why do we use it?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CA" dirty="0"/>
              <a:t>To keep secrets </a:t>
            </a:r>
            <a:r>
              <a:rPr lang="en-CA" b="1" dirty="0"/>
              <a:t>safe</a:t>
            </a:r>
            <a:r>
              <a:rPr lang="en-CA" dirty="0"/>
              <a:t>.</a:t>
            </a:r>
            <a:endParaRPr lang="en-CA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CA" dirty="0"/>
              <a:t>To </a:t>
            </a:r>
            <a:r>
              <a:rPr lang="en-CA" b="1" dirty="0"/>
              <a:t>stop</a:t>
            </a:r>
            <a:r>
              <a:rPr lang="en-CA" dirty="0"/>
              <a:t> others from changing information.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CA" dirty="0"/>
              <a:t>To </a:t>
            </a:r>
            <a:r>
              <a:rPr lang="en-CA" b="1" dirty="0"/>
              <a:t>prove</a:t>
            </a:r>
            <a:r>
              <a:rPr lang="en-CA" dirty="0"/>
              <a:t> who a message </a:t>
            </a:r>
            <a:r>
              <a:rPr lang="en-CA" i="1" dirty="0"/>
              <a:t>really</a:t>
            </a:r>
            <a:r>
              <a:rPr lang="en-CA" dirty="0"/>
              <a:t> came from.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="1" dirty="0"/>
              <a:t>How does it work?</a:t>
            </a: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CA" dirty="0"/>
              <a:t>We turn normal text into code (</a:t>
            </a:r>
            <a:r>
              <a:rPr lang="en-CA" u="sng" dirty="0"/>
              <a:t>Encryption</a:t>
            </a:r>
            <a:r>
              <a:rPr lang="en-CA" dirty="0"/>
              <a:t>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CA" dirty="0"/>
              <a:t>Only someone with the </a:t>
            </a:r>
            <a:r>
              <a:rPr lang="en-CA" i="1" dirty="0"/>
              <a:t>key</a:t>
            </a:r>
            <a:r>
              <a:rPr lang="en-CA" dirty="0"/>
              <a:t> can turn it back to the original text (</a:t>
            </a:r>
            <a:r>
              <a:rPr lang="en-CA" u="sng" dirty="0"/>
              <a:t>Decryption</a:t>
            </a:r>
            <a:r>
              <a:rPr lang="en-CA" dirty="0"/>
              <a:t>).</a:t>
            </a:r>
          </a:p>
        </p:txBody>
      </p:sp>
      <p:sp>
        <p:nvSpPr>
          <p:cNvPr id="205" name="Google Shape;205;p35">
            <a:extLst>
              <a:ext uri="{FF2B5EF4-FFF2-40B4-BE49-F238E27FC236}">
                <a16:creationId xmlns:a16="http://schemas.microsoft.com/office/drawing/2014/main" id="{A06236A7-01B8-7A7A-B79D-2B5869E66897}"/>
              </a:ext>
            </a:extLst>
          </p:cNvPr>
          <p:cNvSpPr/>
          <p:nvPr/>
        </p:nvSpPr>
        <p:spPr>
          <a:xfrm>
            <a:off x="5663350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5">
            <a:extLst>
              <a:ext uri="{FF2B5EF4-FFF2-40B4-BE49-F238E27FC236}">
                <a16:creationId xmlns:a16="http://schemas.microsoft.com/office/drawing/2014/main" id="{1385FB6E-028A-475C-A042-36D802C36C16}"/>
              </a:ext>
            </a:extLst>
          </p:cNvPr>
          <p:cNvSpPr/>
          <p:nvPr/>
        </p:nvSpPr>
        <p:spPr>
          <a:xfrm>
            <a:off x="5773150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5">
            <a:extLst>
              <a:ext uri="{FF2B5EF4-FFF2-40B4-BE49-F238E27FC236}">
                <a16:creationId xmlns:a16="http://schemas.microsoft.com/office/drawing/2014/main" id="{29A6E117-2297-7A33-76A9-68CC878FE0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625" y="882250"/>
            <a:ext cx="2378099" cy="317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515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D0AD0562-7601-BA13-0BBA-F144DABB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804BB060-9906-B8C8-52C3-CDB7EDA48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Some examples of where </a:t>
            </a:r>
            <a:r>
              <a:rPr lang="en" dirty="0"/>
              <a:t>Cryptography</a:t>
            </a:r>
            <a:r>
              <a:rPr lang="en" dirty="0">
                <a:solidFill>
                  <a:schemeClr val="accent3"/>
                </a:solidFill>
              </a:rPr>
              <a:t> is used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A304E2DA-D539-6B2F-9025-C0A7D25EBC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0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Cryptography has a lot of applications. It is used in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Messaging (</a:t>
            </a:r>
            <a:r>
              <a:rPr lang="en-CA" sz="1800" dirty="0" err="1"/>
              <a:t>Whatsapp</a:t>
            </a:r>
            <a:r>
              <a:rPr lang="en-CA" sz="18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Online Banking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Video Game Accounts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Wi-Fi Passwords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And many more!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This is a screenshot from </a:t>
            </a:r>
            <a:r>
              <a:rPr lang="en-CA" sz="1800" dirty="0" err="1"/>
              <a:t>Whatsapp</a:t>
            </a:r>
            <a:r>
              <a:rPr lang="en-CA" sz="1800" dirty="0"/>
              <a:t>, indicating that communication is end-to-end </a:t>
            </a:r>
            <a:r>
              <a:rPr lang="en-CA" sz="1800" b="1" dirty="0"/>
              <a:t>encrypted</a:t>
            </a:r>
            <a:r>
              <a:rPr lang="en-CA" sz="18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408237-708E-6836-5CBE-C5735E3C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182" y="4149023"/>
            <a:ext cx="5417433" cy="49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2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1E7967F6-DA25-94A2-429D-465D2F6B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EB567B30-0CC5-E901-9B71-02E16CF7C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How did it start?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7A7BDF66-8832-6D23-1852-D65FA7D492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5465978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/>
              <a:t>In the 1970s, people needed a safer way to send secret messages, especially as computers started talking to each other.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/>
              <a:t>Three researchers at MIT – Ron </a:t>
            </a:r>
            <a:r>
              <a:rPr lang="en-CA" b="1" dirty="0"/>
              <a:t>Rivest</a:t>
            </a:r>
            <a:r>
              <a:rPr lang="en-CA" dirty="0"/>
              <a:t>, Adi </a:t>
            </a:r>
            <a:r>
              <a:rPr lang="en-CA" b="1" dirty="0"/>
              <a:t>Shamir</a:t>
            </a:r>
            <a:r>
              <a:rPr lang="en-CA" dirty="0"/>
              <a:t>, and Leonard </a:t>
            </a:r>
            <a:r>
              <a:rPr lang="en-CA" b="1" dirty="0"/>
              <a:t>Adleman </a:t>
            </a:r>
            <a:r>
              <a:rPr lang="en-CA" dirty="0"/>
              <a:t>came up with a breakthrough idea in 1977.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/>
              <a:t>They created a system where you can </a:t>
            </a:r>
            <a:r>
              <a:rPr lang="en-CA" b="1" dirty="0"/>
              <a:t>lock</a:t>
            </a:r>
            <a:r>
              <a:rPr lang="en-CA" dirty="0"/>
              <a:t> a message with one key and </a:t>
            </a:r>
            <a:r>
              <a:rPr lang="en-CA" b="1" dirty="0"/>
              <a:t>unlock</a:t>
            </a:r>
            <a:r>
              <a:rPr lang="en-CA" dirty="0"/>
              <a:t> it with a different key. This became </a:t>
            </a:r>
            <a:r>
              <a:rPr lang="en-CA" u="sng" dirty="0"/>
              <a:t>RSA</a:t>
            </a:r>
            <a:r>
              <a:rPr lang="en-CA" dirty="0"/>
              <a:t>, the first letters of their last names.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dirty="0"/>
              <a:t>Today, the RSA Cryptosystem has massive usage, from banking to emails – keeping information safe and secure.</a:t>
            </a:r>
          </a:p>
        </p:txBody>
      </p:sp>
      <p:pic>
        <p:nvPicPr>
          <p:cNvPr id="2050" name="Picture 2" descr="1983: Three Inventors Receive Patent for Encryption Algorithm RSA :  Cryptologic Dates in History Calendar">
            <a:extLst>
              <a:ext uri="{FF2B5EF4-FFF2-40B4-BE49-F238E27FC236}">
                <a16:creationId xmlns:a16="http://schemas.microsoft.com/office/drawing/2014/main" id="{64074A3F-3F48-5B10-1261-1A9DCE742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910" y="1869541"/>
            <a:ext cx="2680854" cy="189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200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2A26DB3-480E-C9E7-8BFE-97886E92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B07EC784-E4F3-AA51-80CE-554D429EB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Some examples of where </a:t>
            </a:r>
            <a:r>
              <a:rPr lang="en" dirty="0"/>
              <a:t>Cryptography</a:t>
            </a:r>
            <a:r>
              <a:rPr lang="en" dirty="0">
                <a:solidFill>
                  <a:schemeClr val="accent3"/>
                </a:solidFill>
              </a:rPr>
              <a:t> is used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4AC05B59-0A27-0442-A804-7E6D305C95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0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Cryptography has a lot of applications. It is used in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Messaging (</a:t>
            </a:r>
            <a:r>
              <a:rPr lang="en-CA" sz="1800" dirty="0" err="1"/>
              <a:t>Whatsapp</a:t>
            </a:r>
            <a:r>
              <a:rPr lang="en-CA" sz="1800" dirty="0"/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Online Banking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Video Game Accounts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Wi-Fi Passwords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And many more!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This is a screenshot from </a:t>
            </a:r>
            <a:r>
              <a:rPr lang="en-CA" sz="1800" dirty="0" err="1"/>
              <a:t>Whatsapp</a:t>
            </a:r>
            <a:r>
              <a:rPr lang="en-CA" sz="1800" dirty="0"/>
              <a:t>, indicating that communication is end-to-end </a:t>
            </a:r>
            <a:r>
              <a:rPr lang="en-CA" sz="1800" b="1" dirty="0"/>
              <a:t>encrypted</a:t>
            </a:r>
            <a:r>
              <a:rPr lang="en-CA" sz="18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56757-0568-DA87-BD29-779E9F3B2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182" y="4149023"/>
            <a:ext cx="5417433" cy="49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8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5"/>
          <p:cNvSpPr/>
          <p:nvPr/>
        </p:nvSpPr>
        <p:spPr>
          <a:xfrm>
            <a:off x="3188250" y="3009675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5"/>
          <p:cNvSpPr/>
          <p:nvPr/>
        </p:nvSpPr>
        <p:spPr>
          <a:xfrm>
            <a:off x="3298050" y="3106685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45"/>
          <p:cNvSpPr txBox="1">
            <a:spLocks noGrp="1"/>
          </p:cNvSpPr>
          <p:nvPr>
            <p:ph type="title"/>
          </p:nvPr>
        </p:nvSpPr>
        <p:spPr>
          <a:xfrm>
            <a:off x="2149525" y="2204750"/>
            <a:ext cx="4950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John Perry Barlow</a:t>
            </a:r>
            <a:endParaRPr dirty="0"/>
          </a:p>
        </p:txBody>
      </p:sp>
      <p:sp>
        <p:nvSpPr>
          <p:cNvPr id="666" name="Google Shape;666;p45"/>
          <p:cNvSpPr txBox="1">
            <a:spLocks noGrp="1"/>
          </p:cNvSpPr>
          <p:nvPr>
            <p:ph type="subTitle" idx="1"/>
          </p:nvPr>
        </p:nvSpPr>
        <p:spPr>
          <a:xfrm>
            <a:off x="1458125" y="714575"/>
            <a:ext cx="6227700" cy="13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“When Cryptography is outlawed,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bayl bhgynjf jvyy unir cevinpl.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(Only Outlaws will have privacy – in ROT13)”</a:t>
            </a:r>
            <a:endParaRPr dirty="0"/>
          </a:p>
        </p:txBody>
      </p:sp>
      <p:pic>
        <p:nvPicPr>
          <p:cNvPr id="667" name="Google Shape;6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291" y="3340624"/>
            <a:ext cx="4165350" cy="24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4D5F9049-C596-55EC-F87B-87085107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>
            <a:extLst>
              <a:ext uri="{FF2B5EF4-FFF2-40B4-BE49-F238E27FC236}">
                <a16:creationId xmlns:a16="http://schemas.microsoft.com/office/drawing/2014/main" id="{9AE2071D-9F29-C1E1-F396-585E369E3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8803" y="2012275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Does It Work?</a:t>
            </a:r>
            <a:endParaRPr dirty="0"/>
          </a:p>
        </p:txBody>
      </p:sp>
      <p:sp>
        <p:nvSpPr>
          <p:cNvPr id="194" name="Google Shape;194;p34">
            <a:extLst>
              <a:ext uri="{FF2B5EF4-FFF2-40B4-BE49-F238E27FC236}">
                <a16:creationId xmlns:a16="http://schemas.microsoft.com/office/drawing/2014/main" id="{DDCC5999-CEAA-55CA-62CB-446D4F98A4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998672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1258103C-A224-4ACC-40C2-AB73D15D31EC}"/>
              </a:ext>
            </a:extLst>
          </p:cNvPr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2E71F779-3C46-26C0-F9DB-37B32E3F2F96}"/>
              </a:ext>
            </a:extLst>
          </p:cNvPr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>
            <a:extLst>
              <a:ext uri="{FF2B5EF4-FFF2-40B4-BE49-F238E27FC236}">
                <a16:creationId xmlns:a16="http://schemas.microsoft.com/office/drawing/2014/main" id="{CF438A46-4FB9-11C6-0B2E-4841E9A5BA5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5903420" y="1670900"/>
            <a:ext cx="2140526" cy="3091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95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6F0A8712-ACB9-8E6D-F249-826C16E3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1AF02113-09F9-79C2-EF56-D82CD2B07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49" y="432282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dirty="0"/>
              <a:t>Locks</a:t>
            </a:r>
            <a:r>
              <a:rPr lang="en" dirty="0">
                <a:solidFill>
                  <a:schemeClr val="accent3"/>
                </a:solidFill>
              </a:rPr>
              <a:t> And</a:t>
            </a:r>
            <a:r>
              <a:rPr lang="en" dirty="0"/>
              <a:t> Keys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6F056CE2-E33B-8F24-2EFB-8C8673AA75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0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/>
              <a:t>Public Key = Padlock		Private Key = ONLY key that opens 					     the Padlock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Anyone can use your padlock (Public Key)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Only </a:t>
            </a:r>
            <a:r>
              <a:rPr lang="en-CA" sz="1800" b="1" dirty="0"/>
              <a:t>YOU </a:t>
            </a:r>
            <a:r>
              <a:rPr lang="en-CA" sz="1800" dirty="0"/>
              <a:t>have the private key.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You don’t share the private key with anyone, except with people you want to see the message.</a:t>
            </a:r>
          </a:p>
        </p:txBody>
      </p:sp>
      <p:grpSp>
        <p:nvGrpSpPr>
          <p:cNvPr id="2" name="Google Shape;1742;p63">
            <a:extLst>
              <a:ext uri="{FF2B5EF4-FFF2-40B4-BE49-F238E27FC236}">
                <a16:creationId xmlns:a16="http://schemas.microsoft.com/office/drawing/2014/main" id="{192E9309-FC70-234A-13ED-FD6C3B9E8D23}"/>
              </a:ext>
            </a:extLst>
          </p:cNvPr>
          <p:cNvGrpSpPr/>
          <p:nvPr/>
        </p:nvGrpSpPr>
        <p:grpSpPr>
          <a:xfrm>
            <a:off x="6134183" y="1063611"/>
            <a:ext cx="453600" cy="439817"/>
            <a:chOff x="7962033" y="2230825"/>
            <a:chExt cx="453600" cy="439817"/>
          </a:xfrm>
        </p:grpSpPr>
        <p:sp>
          <p:nvSpPr>
            <p:cNvPr id="4" name="Google Shape;1743;p63">
              <a:extLst>
                <a:ext uri="{FF2B5EF4-FFF2-40B4-BE49-F238E27FC236}">
                  <a16:creationId xmlns:a16="http://schemas.microsoft.com/office/drawing/2014/main" id="{576FDB08-1C6D-7607-5936-1F7285DA6FC3}"/>
                </a:ext>
              </a:extLst>
            </p:cNvPr>
            <p:cNvSpPr/>
            <p:nvPr/>
          </p:nvSpPr>
          <p:spPr>
            <a:xfrm>
              <a:off x="7962033" y="2230825"/>
              <a:ext cx="453588" cy="439816"/>
            </a:xfrm>
            <a:custGeom>
              <a:avLst/>
              <a:gdLst/>
              <a:ahLst/>
              <a:cxnLst/>
              <a:rect l="l" t="t" r="r" b="b"/>
              <a:pathLst>
                <a:path w="11626" h="11273" extrusionOk="0">
                  <a:moveTo>
                    <a:pt x="3049" y="7586"/>
                  </a:moveTo>
                  <a:cubicBezTo>
                    <a:pt x="3451" y="7586"/>
                    <a:pt x="3812" y="7827"/>
                    <a:pt x="3965" y="8197"/>
                  </a:cubicBezTo>
                  <a:cubicBezTo>
                    <a:pt x="4119" y="8568"/>
                    <a:pt x="4033" y="8993"/>
                    <a:pt x="3750" y="9277"/>
                  </a:cubicBezTo>
                  <a:cubicBezTo>
                    <a:pt x="3557" y="9471"/>
                    <a:pt x="3303" y="9567"/>
                    <a:pt x="3050" y="9567"/>
                  </a:cubicBezTo>
                  <a:cubicBezTo>
                    <a:pt x="2796" y="9567"/>
                    <a:pt x="2543" y="9471"/>
                    <a:pt x="2350" y="9277"/>
                  </a:cubicBezTo>
                  <a:cubicBezTo>
                    <a:pt x="2066" y="8993"/>
                    <a:pt x="1981" y="8568"/>
                    <a:pt x="2134" y="8197"/>
                  </a:cubicBezTo>
                  <a:cubicBezTo>
                    <a:pt x="2288" y="7827"/>
                    <a:pt x="2649" y="7586"/>
                    <a:pt x="3049" y="7586"/>
                  </a:cubicBezTo>
                  <a:close/>
                  <a:moveTo>
                    <a:pt x="11159" y="0"/>
                  </a:moveTo>
                  <a:lnTo>
                    <a:pt x="9426" y="5"/>
                  </a:lnTo>
                  <a:cubicBezTo>
                    <a:pt x="9422" y="4"/>
                    <a:pt x="9418" y="4"/>
                    <a:pt x="9415" y="4"/>
                  </a:cubicBezTo>
                  <a:cubicBezTo>
                    <a:pt x="9331" y="4"/>
                    <a:pt x="9251" y="38"/>
                    <a:pt x="9193" y="98"/>
                  </a:cubicBezTo>
                  <a:lnTo>
                    <a:pt x="5100" y="4191"/>
                  </a:lnTo>
                  <a:cubicBezTo>
                    <a:pt x="4732" y="4071"/>
                    <a:pt x="4354" y="4013"/>
                    <a:pt x="3979" y="4013"/>
                  </a:cubicBezTo>
                  <a:cubicBezTo>
                    <a:pt x="3032" y="4013"/>
                    <a:pt x="2106" y="4384"/>
                    <a:pt x="1415" y="5074"/>
                  </a:cubicBezTo>
                  <a:cubicBezTo>
                    <a:pt x="0" y="6488"/>
                    <a:pt x="0" y="8796"/>
                    <a:pt x="1415" y="10211"/>
                  </a:cubicBezTo>
                  <a:cubicBezTo>
                    <a:pt x="2122" y="10919"/>
                    <a:pt x="3053" y="11273"/>
                    <a:pt x="3984" y="11273"/>
                  </a:cubicBezTo>
                  <a:cubicBezTo>
                    <a:pt x="4914" y="11273"/>
                    <a:pt x="5845" y="10919"/>
                    <a:pt x="6553" y="10211"/>
                  </a:cubicBezTo>
                  <a:cubicBezTo>
                    <a:pt x="7515" y="9249"/>
                    <a:pt x="7851" y="7829"/>
                    <a:pt x="7440" y="6541"/>
                  </a:cubicBezTo>
                  <a:lnTo>
                    <a:pt x="8791" y="6029"/>
                  </a:lnTo>
                  <a:cubicBezTo>
                    <a:pt x="8922" y="6001"/>
                    <a:pt x="9025" y="5899"/>
                    <a:pt x="9053" y="5768"/>
                  </a:cubicBezTo>
                  <a:lnTo>
                    <a:pt x="9239" y="4816"/>
                  </a:lnTo>
                  <a:lnTo>
                    <a:pt x="10192" y="4628"/>
                  </a:lnTo>
                  <a:cubicBezTo>
                    <a:pt x="10324" y="4600"/>
                    <a:pt x="10426" y="4498"/>
                    <a:pt x="10454" y="4367"/>
                  </a:cubicBezTo>
                  <a:lnTo>
                    <a:pt x="10632" y="3478"/>
                  </a:lnTo>
                  <a:lnTo>
                    <a:pt x="11294" y="3478"/>
                  </a:lnTo>
                  <a:cubicBezTo>
                    <a:pt x="11297" y="3478"/>
                    <a:pt x="11300" y="3478"/>
                    <a:pt x="11303" y="3478"/>
                  </a:cubicBezTo>
                  <a:cubicBezTo>
                    <a:pt x="11481" y="3478"/>
                    <a:pt x="11626" y="3313"/>
                    <a:pt x="11621" y="3134"/>
                  </a:cubicBezTo>
                  <a:lnTo>
                    <a:pt x="11626" y="467"/>
                  </a:lnTo>
                  <a:lnTo>
                    <a:pt x="11626" y="467"/>
                  </a:lnTo>
                  <a:lnTo>
                    <a:pt x="10594" y="1032"/>
                  </a:lnTo>
                  <a:lnTo>
                    <a:pt x="111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1744;p63">
              <a:extLst>
                <a:ext uri="{FF2B5EF4-FFF2-40B4-BE49-F238E27FC236}">
                  <a16:creationId xmlns:a16="http://schemas.microsoft.com/office/drawing/2014/main" id="{A0264DAC-86D9-EAD5-3D91-93BD358A6741}"/>
                </a:ext>
              </a:extLst>
            </p:cNvPr>
            <p:cNvSpPr/>
            <p:nvPr/>
          </p:nvSpPr>
          <p:spPr>
            <a:xfrm>
              <a:off x="8017242" y="2249046"/>
              <a:ext cx="398382" cy="421596"/>
            </a:xfrm>
            <a:custGeom>
              <a:avLst/>
              <a:gdLst/>
              <a:ahLst/>
              <a:cxnLst/>
              <a:rect l="l" t="t" r="r" b="b"/>
              <a:pathLst>
                <a:path w="10211" h="10806" extrusionOk="0">
                  <a:moveTo>
                    <a:pt x="10211" y="0"/>
                  </a:moveTo>
                  <a:lnTo>
                    <a:pt x="9179" y="566"/>
                  </a:lnTo>
                  <a:lnTo>
                    <a:pt x="2336" y="7409"/>
                  </a:lnTo>
                  <a:cubicBezTo>
                    <a:pt x="2716" y="7797"/>
                    <a:pt x="2713" y="8419"/>
                    <a:pt x="2328" y="8803"/>
                  </a:cubicBezTo>
                  <a:cubicBezTo>
                    <a:pt x="2135" y="8996"/>
                    <a:pt x="1882" y="9093"/>
                    <a:pt x="1628" y="9093"/>
                  </a:cubicBezTo>
                  <a:cubicBezTo>
                    <a:pt x="1378" y="9093"/>
                    <a:pt x="1128" y="8999"/>
                    <a:pt x="935" y="8810"/>
                  </a:cubicBezTo>
                  <a:lnTo>
                    <a:pt x="1" y="9744"/>
                  </a:lnTo>
                  <a:cubicBezTo>
                    <a:pt x="708" y="10452"/>
                    <a:pt x="1638" y="10806"/>
                    <a:pt x="2569" y="10806"/>
                  </a:cubicBezTo>
                  <a:cubicBezTo>
                    <a:pt x="3499" y="10806"/>
                    <a:pt x="4430" y="10452"/>
                    <a:pt x="5138" y="9744"/>
                  </a:cubicBezTo>
                  <a:cubicBezTo>
                    <a:pt x="6100" y="8782"/>
                    <a:pt x="6436" y="7362"/>
                    <a:pt x="6025" y="6074"/>
                  </a:cubicBezTo>
                  <a:lnTo>
                    <a:pt x="7376" y="5563"/>
                  </a:lnTo>
                  <a:cubicBezTo>
                    <a:pt x="7507" y="5534"/>
                    <a:pt x="7610" y="5432"/>
                    <a:pt x="7638" y="5302"/>
                  </a:cubicBezTo>
                  <a:lnTo>
                    <a:pt x="7824" y="4349"/>
                  </a:lnTo>
                  <a:lnTo>
                    <a:pt x="8777" y="4162"/>
                  </a:lnTo>
                  <a:cubicBezTo>
                    <a:pt x="8909" y="4133"/>
                    <a:pt x="9011" y="4031"/>
                    <a:pt x="9039" y="3901"/>
                  </a:cubicBezTo>
                  <a:lnTo>
                    <a:pt x="9217" y="3012"/>
                  </a:lnTo>
                  <a:lnTo>
                    <a:pt x="9879" y="3012"/>
                  </a:lnTo>
                  <a:cubicBezTo>
                    <a:pt x="9882" y="3012"/>
                    <a:pt x="9884" y="3012"/>
                    <a:pt x="9886" y="3012"/>
                  </a:cubicBezTo>
                  <a:cubicBezTo>
                    <a:pt x="10065" y="3012"/>
                    <a:pt x="10211" y="2847"/>
                    <a:pt x="10206" y="2668"/>
                  </a:cubicBezTo>
                  <a:lnTo>
                    <a:pt x="10211" y="0"/>
                  </a:ln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45;p63">
              <a:extLst>
                <a:ext uri="{FF2B5EF4-FFF2-40B4-BE49-F238E27FC236}">
                  <a16:creationId xmlns:a16="http://schemas.microsoft.com/office/drawing/2014/main" id="{0E971447-F41A-7468-A22C-A80CD2D035C8}"/>
                </a:ext>
              </a:extLst>
            </p:cNvPr>
            <p:cNvSpPr/>
            <p:nvPr/>
          </p:nvSpPr>
          <p:spPr>
            <a:xfrm>
              <a:off x="8194535" y="2230825"/>
              <a:ext cx="221098" cy="219850"/>
            </a:xfrm>
            <a:custGeom>
              <a:avLst/>
              <a:gdLst/>
              <a:ahLst/>
              <a:cxnLst/>
              <a:rect l="l" t="t" r="r" b="b"/>
              <a:pathLst>
                <a:path w="5667" h="5635" extrusionOk="0">
                  <a:moveTo>
                    <a:pt x="5200" y="0"/>
                  </a:moveTo>
                  <a:lnTo>
                    <a:pt x="127" y="5073"/>
                  </a:lnTo>
                  <a:cubicBezTo>
                    <a:pt x="0" y="5203"/>
                    <a:pt x="1" y="5410"/>
                    <a:pt x="129" y="5538"/>
                  </a:cubicBezTo>
                  <a:cubicBezTo>
                    <a:pt x="194" y="5602"/>
                    <a:pt x="278" y="5635"/>
                    <a:pt x="363" y="5635"/>
                  </a:cubicBezTo>
                  <a:cubicBezTo>
                    <a:pt x="446" y="5635"/>
                    <a:pt x="530" y="5603"/>
                    <a:pt x="594" y="5541"/>
                  </a:cubicBezTo>
                  <a:lnTo>
                    <a:pt x="5667" y="467"/>
                  </a:lnTo>
                  <a:lnTo>
                    <a:pt x="5662" y="331"/>
                  </a:lnTo>
                  <a:cubicBezTo>
                    <a:pt x="5667" y="152"/>
                    <a:pt x="5522" y="4"/>
                    <a:pt x="5343" y="4"/>
                  </a:cubicBezTo>
                  <a:cubicBezTo>
                    <a:pt x="5341" y="4"/>
                    <a:pt x="5338" y="4"/>
                    <a:pt x="5335" y="5"/>
                  </a:cubicBezTo>
                  <a:lnTo>
                    <a:pt x="52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46;p63">
              <a:extLst>
                <a:ext uri="{FF2B5EF4-FFF2-40B4-BE49-F238E27FC236}">
                  <a16:creationId xmlns:a16="http://schemas.microsoft.com/office/drawing/2014/main" id="{8B7A4EBD-500F-4564-60CE-DC338938E04B}"/>
                </a:ext>
              </a:extLst>
            </p:cNvPr>
            <p:cNvSpPr/>
            <p:nvPr/>
          </p:nvSpPr>
          <p:spPr>
            <a:xfrm>
              <a:off x="8199451" y="2234610"/>
              <a:ext cx="216182" cy="216221"/>
            </a:xfrm>
            <a:custGeom>
              <a:avLst/>
              <a:gdLst/>
              <a:ahLst/>
              <a:cxnLst/>
              <a:rect l="l" t="t" r="r" b="b"/>
              <a:pathLst>
                <a:path w="5541" h="5542" extrusionOk="0">
                  <a:moveTo>
                    <a:pt x="5443" y="1"/>
                  </a:moveTo>
                  <a:lnTo>
                    <a:pt x="1" y="5444"/>
                  </a:lnTo>
                  <a:cubicBezTo>
                    <a:pt x="65" y="5509"/>
                    <a:pt x="150" y="5541"/>
                    <a:pt x="234" y="5541"/>
                  </a:cubicBezTo>
                  <a:cubicBezTo>
                    <a:pt x="319" y="5541"/>
                    <a:pt x="404" y="5509"/>
                    <a:pt x="468" y="5444"/>
                  </a:cubicBezTo>
                  <a:lnTo>
                    <a:pt x="5541" y="370"/>
                  </a:lnTo>
                  <a:lnTo>
                    <a:pt x="5536" y="234"/>
                  </a:lnTo>
                  <a:cubicBezTo>
                    <a:pt x="5539" y="147"/>
                    <a:pt x="5506" y="62"/>
                    <a:pt x="5443" y="1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778;p63">
            <a:extLst>
              <a:ext uri="{FF2B5EF4-FFF2-40B4-BE49-F238E27FC236}">
                <a16:creationId xmlns:a16="http://schemas.microsoft.com/office/drawing/2014/main" id="{F891E1A3-539D-0937-158D-29A9499D2E3E}"/>
              </a:ext>
            </a:extLst>
          </p:cNvPr>
          <p:cNvGrpSpPr/>
          <p:nvPr/>
        </p:nvGrpSpPr>
        <p:grpSpPr>
          <a:xfrm>
            <a:off x="1752312" y="1024877"/>
            <a:ext cx="412367" cy="439903"/>
            <a:chOff x="3112457" y="2230747"/>
            <a:chExt cx="412367" cy="439903"/>
          </a:xfrm>
        </p:grpSpPr>
        <p:sp>
          <p:nvSpPr>
            <p:cNvPr id="9" name="Google Shape;1779;p63">
              <a:extLst>
                <a:ext uri="{FF2B5EF4-FFF2-40B4-BE49-F238E27FC236}">
                  <a16:creationId xmlns:a16="http://schemas.microsoft.com/office/drawing/2014/main" id="{1ABF083F-659A-30A5-3388-FD97C4D085D1}"/>
                </a:ext>
              </a:extLst>
            </p:cNvPr>
            <p:cNvSpPr/>
            <p:nvPr/>
          </p:nvSpPr>
          <p:spPr>
            <a:xfrm>
              <a:off x="3164038" y="2230747"/>
              <a:ext cx="232022" cy="207131"/>
            </a:xfrm>
            <a:custGeom>
              <a:avLst/>
              <a:gdLst/>
              <a:ahLst/>
              <a:cxnLst/>
              <a:rect l="l" t="t" r="r" b="b"/>
              <a:pathLst>
                <a:path w="5947" h="5309" extrusionOk="0">
                  <a:moveTo>
                    <a:pt x="2973" y="1"/>
                  </a:moveTo>
                  <a:cubicBezTo>
                    <a:pt x="2874" y="1"/>
                    <a:pt x="2775" y="9"/>
                    <a:pt x="2676" y="15"/>
                  </a:cubicBezTo>
                  <a:cubicBezTo>
                    <a:pt x="1131" y="168"/>
                    <a:pt x="1" y="1554"/>
                    <a:pt x="1" y="3107"/>
                  </a:cubicBezTo>
                  <a:lnTo>
                    <a:pt x="1" y="5308"/>
                  </a:lnTo>
                  <a:lnTo>
                    <a:pt x="1322" y="5308"/>
                  </a:lnTo>
                  <a:lnTo>
                    <a:pt x="1322" y="3067"/>
                  </a:lnTo>
                  <a:cubicBezTo>
                    <a:pt x="1322" y="2202"/>
                    <a:pt x="1942" y="1415"/>
                    <a:pt x="2801" y="1330"/>
                  </a:cubicBezTo>
                  <a:cubicBezTo>
                    <a:pt x="2848" y="1325"/>
                    <a:pt x="2896" y="1323"/>
                    <a:pt x="2943" y="1323"/>
                  </a:cubicBezTo>
                  <a:cubicBezTo>
                    <a:pt x="2953" y="1323"/>
                    <a:pt x="2962" y="1323"/>
                    <a:pt x="2972" y="1323"/>
                  </a:cubicBezTo>
                  <a:cubicBezTo>
                    <a:pt x="3885" y="1323"/>
                    <a:pt x="4623" y="2063"/>
                    <a:pt x="4624" y="2974"/>
                  </a:cubicBezTo>
                  <a:lnTo>
                    <a:pt x="4624" y="3657"/>
                  </a:lnTo>
                  <a:cubicBezTo>
                    <a:pt x="4622" y="3840"/>
                    <a:pt x="4770" y="3987"/>
                    <a:pt x="4952" y="3987"/>
                  </a:cubicBezTo>
                  <a:cubicBezTo>
                    <a:pt x="4953" y="3987"/>
                    <a:pt x="4954" y="3987"/>
                    <a:pt x="4955" y="3987"/>
                  </a:cubicBezTo>
                  <a:lnTo>
                    <a:pt x="5614" y="3987"/>
                  </a:lnTo>
                  <a:cubicBezTo>
                    <a:pt x="5615" y="3987"/>
                    <a:pt x="5615" y="3987"/>
                    <a:pt x="5616" y="3987"/>
                  </a:cubicBezTo>
                  <a:cubicBezTo>
                    <a:pt x="5798" y="3987"/>
                    <a:pt x="5946" y="3840"/>
                    <a:pt x="5944" y="3657"/>
                  </a:cubicBezTo>
                  <a:lnTo>
                    <a:pt x="5944" y="2974"/>
                  </a:lnTo>
                  <a:lnTo>
                    <a:pt x="5945" y="2973"/>
                  </a:lnTo>
                  <a:cubicBezTo>
                    <a:pt x="5945" y="1335"/>
                    <a:pt x="4611" y="1"/>
                    <a:pt x="2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80;p63">
              <a:extLst>
                <a:ext uri="{FF2B5EF4-FFF2-40B4-BE49-F238E27FC236}">
                  <a16:creationId xmlns:a16="http://schemas.microsoft.com/office/drawing/2014/main" id="{D9251C32-703A-E021-0464-A4613B478BEF}"/>
                </a:ext>
              </a:extLst>
            </p:cNvPr>
            <p:cNvSpPr/>
            <p:nvPr/>
          </p:nvSpPr>
          <p:spPr>
            <a:xfrm>
              <a:off x="3112457" y="2412058"/>
              <a:ext cx="335100" cy="258591"/>
            </a:xfrm>
            <a:custGeom>
              <a:avLst/>
              <a:gdLst/>
              <a:ahLst/>
              <a:cxnLst/>
              <a:rect l="l" t="t" r="r" b="b"/>
              <a:pathLst>
                <a:path w="8589" h="6628" extrusionOk="0">
                  <a:moveTo>
                    <a:pt x="2544" y="1"/>
                  </a:moveTo>
                  <a:cubicBezTo>
                    <a:pt x="1481" y="1"/>
                    <a:pt x="582" y="760"/>
                    <a:pt x="411" y="1803"/>
                  </a:cubicBezTo>
                  <a:lnTo>
                    <a:pt x="27" y="4111"/>
                  </a:lnTo>
                  <a:cubicBezTo>
                    <a:pt x="12" y="4230"/>
                    <a:pt x="3" y="4348"/>
                    <a:pt x="1" y="4467"/>
                  </a:cubicBezTo>
                  <a:cubicBezTo>
                    <a:pt x="1" y="5656"/>
                    <a:pt x="973" y="6628"/>
                    <a:pt x="2161" y="6628"/>
                  </a:cubicBezTo>
                  <a:lnTo>
                    <a:pt x="6428" y="6628"/>
                  </a:lnTo>
                  <a:cubicBezTo>
                    <a:pt x="7616" y="6628"/>
                    <a:pt x="8588" y="5656"/>
                    <a:pt x="8588" y="4467"/>
                  </a:cubicBezTo>
                  <a:cubicBezTo>
                    <a:pt x="8586" y="4348"/>
                    <a:pt x="8577" y="4230"/>
                    <a:pt x="8562" y="4111"/>
                  </a:cubicBezTo>
                  <a:lnTo>
                    <a:pt x="8560" y="4111"/>
                  </a:lnTo>
                  <a:lnTo>
                    <a:pt x="8178" y="1803"/>
                  </a:lnTo>
                  <a:cubicBezTo>
                    <a:pt x="8007" y="760"/>
                    <a:pt x="7108" y="1"/>
                    <a:pt x="60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81;p63">
              <a:extLst>
                <a:ext uri="{FF2B5EF4-FFF2-40B4-BE49-F238E27FC236}">
                  <a16:creationId xmlns:a16="http://schemas.microsoft.com/office/drawing/2014/main" id="{2DFC9896-0B6C-4A9C-F7AC-90496EAE7436}"/>
                </a:ext>
              </a:extLst>
            </p:cNvPr>
            <p:cNvSpPr/>
            <p:nvPr/>
          </p:nvSpPr>
          <p:spPr>
            <a:xfrm>
              <a:off x="3460371" y="2412058"/>
              <a:ext cx="64453" cy="25828"/>
            </a:xfrm>
            <a:custGeom>
              <a:avLst/>
              <a:gdLst/>
              <a:ahLst/>
              <a:cxnLst/>
              <a:rect l="l" t="t" r="r" b="b"/>
              <a:pathLst>
                <a:path w="1652" h="662" extrusionOk="0">
                  <a:moveTo>
                    <a:pt x="331" y="1"/>
                  </a:moveTo>
                  <a:cubicBezTo>
                    <a:pt x="148" y="1"/>
                    <a:pt x="0" y="149"/>
                    <a:pt x="0" y="331"/>
                  </a:cubicBezTo>
                  <a:cubicBezTo>
                    <a:pt x="0" y="513"/>
                    <a:pt x="148" y="661"/>
                    <a:pt x="331" y="661"/>
                  </a:cubicBezTo>
                  <a:lnTo>
                    <a:pt x="1321" y="661"/>
                  </a:lnTo>
                  <a:cubicBezTo>
                    <a:pt x="1504" y="661"/>
                    <a:pt x="1652" y="513"/>
                    <a:pt x="1652" y="331"/>
                  </a:cubicBezTo>
                  <a:cubicBezTo>
                    <a:pt x="1652" y="149"/>
                    <a:pt x="1504" y="1"/>
                    <a:pt x="1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82;p63">
              <a:extLst>
                <a:ext uri="{FF2B5EF4-FFF2-40B4-BE49-F238E27FC236}">
                  <a16:creationId xmlns:a16="http://schemas.microsoft.com/office/drawing/2014/main" id="{02016922-C604-F00C-A184-8195AD547223}"/>
                </a:ext>
              </a:extLst>
            </p:cNvPr>
            <p:cNvSpPr/>
            <p:nvPr/>
          </p:nvSpPr>
          <p:spPr>
            <a:xfrm>
              <a:off x="3446208" y="2334961"/>
              <a:ext cx="53919" cy="51383"/>
            </a:xfrm>
            <a:custGeom>
              <a:avLst/>
              <a:gdLst/>
              <a:ahLst/>
              <a:cxnLst/>
              <a:rect l="l" t="t" r="r" b="b"/>
              <a:pathLst>
                <a:path w="1382" h="1317" extrusionOk="0">
                  <a:moveTo>
                    <a:pt x="1020" y="0"/>
                  </a:moveTo>
                  <a:cubicBezTo>
                    <a:pt x="937" y="0"/>
                    <a:pt x="855" y="31"/>
                    <a:pt x="790" y="92"/>
                  </a:cubicBezTo>
                  <a:lnTo>
                    <a:pt x="130" y="753"/>
                  </a:lnTo>
                  <a:cubicBezTo>
                    <a:pt x="1" y="882"/>
                    <a:pt x="1" y="1091"/>
                    <a:pt x="130" y="1220"/>
                  </a:cubicBezTo>
                  <a:cubicBezTo>
                    <a:pt x="194" y="1284"/>
                    <a:pt x="279" y="1316"/>
                    <a:pt x="363" y="1316"/>
                  </a:cubicBezTo>
                  <a:cubicBezTo>
                    <a:pt x="448" y="1316"/>
                    <a:pt x="532" y="1284"/>
                    <a:pt x="597" y="1220"/>
                  </a:cubicBezTo>
                  <a:lnTo>
                    <a:pt x="1257" y="559"/>
                  </a:lnTo>
                  <a:cubicBezTo>
                    <a:pt x="1382" y="429"/>
                    <a:pt x="1380" y="223"/>
                    <a:pt x="1253" y="96"/>
                  </a:cubicBezTo>
                  <a:cubicBezTo>
                    <a:pt x="1189" y="32"/>
                    <a:pt x="1104" y="0"/>
                    <a:pt x="1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83;p63">
              <a:extLst>
                <a:ext uri="{FF2B5EF4-FFF2-40B4-BE49-F238E27FC236}">
                  <a16:creationId xmlns:a16="http://schemas.microsoft.com/office/drawing/2014/main" id="{E1E9D422-806D-60A8-E146-552ACDA86B99}"/>
                </a:ext>
              </a:extLst>
            </p:cNvPr>
            <p:cNvSpPr/>
            <p:nvPr/>
          </p:nvSpPr>
          <p:spPr>
            <a:xfrm>
              <a:off x="3446325" y="2463717"/>
              <a:ext cx="53919" cy="51383"/>
            </a:xfrm>
            <a:custGeom>
              <a:avLst/>
              <a:gdLst/>
              <a:ahLst/>
              <a:cxnLst/>
              <a:rect l="l" t="t" r="r" b="b"/>
              <a:pathLst>
                <a:path w="1382" h="1317" extrusionOk="0">
                  <a:moveTo>
                    <a:pt x="363" y="0"/>
                  </a:moveTo>
                  <a:cubicBezTo>
                    <a:pt x="278" y="0"/>
                    <a:pt x="193" y="32"/>
                    <a:pt x="129" y="97"/>
                  </a:cubicBezTo>
                  <a:cubicBezTo>
                    <a:pt x="1" y="225"/>
                    <a:pt x="0" y="431"/>
                    <a:pt x="127" y="562"/>
                  </a:cubicBezTo>
                  <a:lnTo>
                    <a:pt x="787" y="1222"/>
                  </a:lnTo>
                  <a:cubicBezTo>
                    <a:pt x="851" y="1285"/>
                    <a:pt x="935" y="1316"/>
                    <a:pt x="1019" y="1316"/>
                  </a:cubicBezTo>
                  <a:cubicBezTo>
                    <a:pt x="1103" y="1316"/>
                    <a:pt x="1188" y="1284"/>
                    <a:pt x="1252" y="1220"/>
                  </a:cubicBezTo>
                  <a:cubicBezTo>
                    <a:pt x="1380" y="1091"/>
                    <a:pt x="1381" y="884"/>
                    <a:pt x="1254" y="755"/>
                  </a:cubicBezTo>
                  <a:lnTo>
                    <a:pt x="594" y="95"/>
                  </a:lnTo>
                  <a:cubicBezTo>
                    <a:pt x="530" y="32"/>
                    <a:pt x="446" y="0"/>
                    <a:pt x="3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84;p63">
              <a:extLst>
                <a:ext uri="{FF2B5EF4-FFF2-40B4-BE49-F238E27FC236}">
                  <a16:creationId xmlns:a16="http://schemas.microsoft.com/office/drawing/2014/main" id="{01F7F39D-16F2-0AF0-43D5-24DFE8EFEA46}"/>
                </a:ext>
              </a:extLst>
            </p:cNvPr>
            <p:cNvSpPr/>
            <p:nvPr/>
          </p:nvSpPr>
          <p:spPr>
            <a:xfrm>
              <a:off x="3267081" y="2540931"/>
              <a:ext cx="25828" cy="52397"/>
            </a:xfrm>
            <a:custGeom>
              <a:avLst/>
              <a:gdLst/>
              <a:ahLst/>
              <a:cxnLst/>
              <a:rect l="l" t="t" r="r" b="b"/>
              <a:pathLst>
                <a:path w="662" h="1343" extrusionOk="0">
                  <a:moveTo>
                    <a:pt x="331" y="0"/>
                  </a:moveTo>
                  <a:cubicBezTo>
                    <a:pt x="149" y="0"/>
                    <a:pt x="1" y="148"/>
                    <a:pt x="1" y="331"/>
                  </a:cubicBezTo>
                  <a:lnTo>
                    <a:pt x="1" y="1013"/>
                  </a:lnTo>
                  <a:cubicBezTo>
                    <a:pt x="1" y="1196"/>
                    <a:pt x="149" y="1342"/>
                    <a:pt x="331" y="1342"/>
                  </a:cubicBezTo>
                  <a:cubicBezTo>
                    <a:pt x="513" y="1342"/>
                    <a:pt x="661" y="1196"/>
                    <a:pt x="661" y="1013"/>
                  </a:cubicBezTo>
                  <a:lnTo>
                    <a:pt x="661" y="331"/>
                  </a:lnTo>
                  <a:cubicBezTo>
                    <a:pt x="661" y="148"/>
                    <a:pt x="513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85;p63">
              <a:extLst>
                <a:ext uri="{FF2B5EF4-FFF2-40B4-BE49-F238E27FC236}">
                  <a16:creationId xmlns:a16="http://schemas.microsoft.com/office/drawing/2014/main" id="{096BF246-5FFC-A830-E4B4-B30726AD4B56}"/>
                </a:ext>
              </a:extLst>
            </p:cNvPr>
            <p:cNvSpPr/>
            <p:nvPr/>
          </p:nvSpPr>
          <p:spPr>
            <a:xfrm>
              <a:off x="3279957" y="2412058"/>
              <a:ext cx="167569" cy="258591"/>
            </a:xfrm>
            <a:custGeom>
              <a:avLst/>
              <a:gdLst/>
              <a:ahLst/>
              <a:cxnLst/>
              <a:rect l="l" t="t" r="r" b="b"/>
              <a:pathLst>
                <a:path w="4295" h="6628" extrusionOk="0">
                  <a:moveTo>
                    <a:pt x="1" y="1"/>
                  </a:moveTo>
                  <a:lnTo>
                    <a:pt x="1" y="6628"/>
                  </a:lnTo>
                  <a:lnTo>
                    <a:pt x="2135" y="6628"/>
                  </a:lnTo>
                  <a:cubicBezTo>
                    <a:pt x="3323" y="6628"/>
                    <a:pt x="4294" y="5656"/>
                    <a:pt x="4294" y="4467"/>
                  </a:cubicBezTo>
                  <a:cubicBezTo>
                    <a:pt x="4292" y="4348"/>
                    <a:pt x="4283" y="4230"/>
                    <a:pt x="4267" y="4111"/>
                  </a:cubicBezTo>
                  <a:lnTo>
                    <a:pt x="3885" y="1803"/>
                  </a:lnTo>
                  <a:cubicBezTo>
                    <a:pt x="3714" y="760"/>
                    <a:pt x="2815" y="1"/>
                    <a:pt x="1751" y="1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86;p63">
              <a:extLst>
                <a:ext uri="{FF2B5EF4-FFF2-40B4-BE49-F238E27FC236}">
                  <a16:creationId xmlns:a16="http://schemas.microsoft.com/office/drawing/2014/main" id="{BA29BD2A-C3FB-32DE-DBDF-54B9672D4EDB}"/>
                </a:ext>
              </a:extLst>
            </p:cNvPr>
            <p:cNvSpPr/>
            <p:nvPr/>
          </p:nvSpPr>
          <p:spPr>
            <a:xfrm>
              <a:off x="3279957" y="2230864"/>
              <a:ext cx="116109" cy="155475"/>
            </a:xfrm>
            <a:custGeom>
              <a:avLst/>
              <a:gdLst/>
              <a:ahLst/>
              <a:cxnLst/>
              <a:rect l="l" t="t" r="r" b="b"/>
              <a:pathLst>
                <a:path w="2976" h="3985" extrusionOk="0">
                  <a:moveTo>
                    <a:pt x="1" y="0"/>
                  </a:moveTo>
                  <a:lnTo>
                    <a:pt x="1" y="1320"/>
                  </a:lnTo>
                  <a:cubicBezTo>
                    <a:pt x="914" y="1320"/>
                    <a:pt x="1652" y="2060"/>
                    <a:pt x="1653" y="2971"/>
                  </a:cubicBezTo>
                  <a:lnTo>
                    <a:pt x="1653" y="3654"/>
                  </a:lnTo>
                  <a:cubicBezTo>
                    <a:pt x="1651" y="3837"/>
                    <a:pt x="1799" y="3984"/>
                    <a:pt x="1981" y="3984"/>
                  </a:cubicBezTo>
                  <a:cubicBezTo>
                    <a:pt x="1982" y="3984"/>
                    <a:pt x="1983" y="3984"/>
                    <a:pt x="1984" y="3984"/>
                  </a:cubicBezTo>
                  <a:lnTo>
                    <a:pt x="2643" y="3984"/>
                  </a:lnTo>
                  <a:cubicBezTo>
                    <a:pt x="2644" y="3984"/>
                    <a:pt x="2644" y="3984"/>
                    <a:pt x="2645" y="3984"/>
                  </a:cubicBezTo>
                  <a:cubicBezTo>
                    <a:pt x="2827" y="3984"/>
                    <a:pt x="2975" y="3837"/>
                    <a:pt x="2973" y="3654"/>
                  </a:cubicBezTo>
                  <a:lnTo>
                    <a:pt x="2973" y="2971"/>
                  </a:lnTo>
                  <a:lnTo>
                    <a:pt x="2974" y="2971"/>
                  </a:lnTo>
                  <a:cubicBezTo>
                    <a:pt x="2974" y="1335"/>
                    <a:pt x="1640" y="0"/>
                    <a:pt x="1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7;p63">
              <a:extLst>
                <a:ext uri="{FF2B5EF4-FFF2-40B4-BE49-F238E27FC236}">
                  <a16:creationId xmlns:a16="http://schemas.microsoft.com/office/drawing/2014/main" id="{13162DDD-9E9B-1625-ADBC-70704DBA1228}"/>
                </a:ext>
              </a:extLst>
            </p:cNvPr>
            <p:cNvSpPr/>
            <p:nvPr/>
          </p:nvSpPr>
          <p:spPr>
            <a:xfrm>
              <a:off x="3279957" y="2540931"/>
              <a:ext cx="13031" cy="52436"/>
            </a:xfrm>
            <a:custGeom>
              <a:avLst/>
              <a:gdLst/>
              <a:ahLst/>
              <a:cxnLst/>
              <a:rect l="l" t="t" r="r" b="b"/>
              <a:pathLst>
                <a:path w="334" h="1344" extrusionOk="0">
                  <a:moveTo>
                    <a:pt x="5" y="0"/>
                  </a:moveTo>
                  <a:cubicBezTo>
                    <a:pt x="4" y="0"/>
                    <a:pt x="2" y="0"/>
                    <a:pt x="1" y="0"/>
                  </a:cubicBezTo>
                  <a:lnTo>
                    <a:pt x="1" y="1343"/>
                  </a:lnTo>
                  <a:cubicBezTo>
                    <a:pt x="2" y="1343"/>
                    <a:pt x="2" y="1343"/>
                    <a:pt x="3" y="1343"/>
                  </a:cubicBezTo>
                  <a:cubicBezTo>
                    <a:pt x="185" y="1343"/>
                    <a:pt x="333" y="1195"/>
                    <a:pt x="331" y="1013"/>
                  </a:cubicBezTo>
                  <a:lnTo>
                    <a:pt x="331" y="331"/>
                  </a:lnTo>
                  <a:cubicBezTo>
                    <a:pt x="333" y="148"/>
                    <a:pt x="187" y="0"/>
                    <a:pt x="5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88;p63">
              <a:extLst>
                <a:ext uri="{FF2B5EF4-FFF2-40B4-BE49-F238E27FC236}">
                  <a16:creationId xmlns:a16="http://schemas.microsoft.com/office/drawing/2014/main" id="{7BAA3F1C-7394-DC00-D9A0-D7A8F09295CB}"/>
                </a:ext>
              </a:extLst>
            </p:cNvPr>
            <p:cNvSpPr/>
            <p:nvPr/>
          </p:nvSpPr>
          <p:spPr>
            <a:xfrm>
              <a:off x="3241330" y="2489390"/>
              <a:ext cx="77367" cy="78186"/>
            </a:xfrm>
            <a:custGeom>
              <a:avLst/>
              <a:gdLst/>
              <a:ahLst/>
              <a:cxnLst/>
              <a:rect l="l" t="t" r="r" b="b"/>
              <a:pathLst>
                <a:path w="1983" h="2004" extrusionOk="0">
                  <a:moveTo>
                    <a:pt x="989" y="0"/>
                  </a:moveTo>
                  <a:cubicBezTo>
                    <a:pt x="443" y="0"/>
                    <a:pt x="0" y="444"/>
                    <a:pt x="0" y="991"/>
                  </a:cubicBezTo>
                  <a:cubicBezTo>
                    <a:pt x="0" y="1539"/>
                    <a:pt x="443" y="2004"/>
                    <a:pt x="991" y="2004"/>
                  </a:cubicBezTo>
                  <a:cubicBezTo>
                    <a:pt x="1539" y="2004"/>
                    <a:pt x="1982" y="1539"/>
                    <a:pt x="1982" y="991"/>
                  </a:cubicBezTo>
                  <a:cubicBezTo>
                    <a:pt x="1983" y="444"/>
                    <a:pt x="1540" y="0"/>
                    <a:pt x="993" y="0"/>
                  </a:cubicBezTo>
                  <a:cubicBezTo>
                    <a:pt x="992" y="0"/>
                    <a:pt x="992" y="0"/>
                    <a:pt x="991" y="0"/>
                  </a:cubicBezTo>
                  <a:cubicBezTo>
                    <a:pt x="990" y="0"/>
                    <a:pt x="990" y="0"/>
                    <a:pt x="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89;p63">
              <a:extLst>
                <a:ext uri="{FF2B5EF4-FFF2-40B4-BE49-F238E27FC236}">
                  <a16:creationId xmlns:a16="http://schemas.microsoft.com/office/drawing/2014/main" id="{98692CF5-5DA7-1066-910C-E5B2BAAB2189}"/>
                </a:ext>
              </a:extLst>
            </p:cNvPr>
            <p:cNvSpPr/>
            <p:nvPr/>
          </p:nvSpPr>
          <p:spPr>
            <a:xfrm>
              <a:off x="3279957" y="2489390"/>
              <a:ext cx="38742" cy="78186"/>
            </a:xfrm>
            <a:custGeom>
              <a:avLst/>
              <a:gdLst/>
              <a:ahLst/>
              <a:cxnLst/>
              <a:rect l="l" t="t" r="r" b="b"/>
              <a:pathLst>
                <a:path w="993" h="2004" extrusionOk="0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lnTo>
                    <a:pt x="1" y="2004"/>
                  </a:lnTo>
                  <a:cubicBezTo>
                    <a:pt x="549" y="2004"/>
                    <a:pt x="992" y="1539"/>
                    <a:pt x="992" y="991"/>
                  </a:cubicBezTo>
                  <a:cubicBezTo>
                    <a:pt x="993" y="444"/>
                    <a:pt x="550" y="0"/>
                    <a:pt x="3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9833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1493786-8943-8FD4-C8DE-A08EC5D2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4F83D924-B803-C810-BC07-8A076254C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49" y="432282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dirty="0"/>
              <a:t>Prime Numbers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11591FB5-21C5-2D9D-C198-F2B7444F22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0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1" dirty="0"/>
              <a:t> </a:t>
            </a:r>
          </a:p>
        </p:txBody>
      </p:sp>
      <p:sp>
        <p:nvSpPr>
          <p:cNvPr id="3" name="Google Shape;204;p35">
            <a:extLst>
              <a:ext uri="{FF2B5EF4-FFF2-40B4-BE49-F238E27FC236}">
                <a16:creationId xmlns:a16="http://schemas.microsoft.com/office/drawing/2014/main" id="{67C24DE4-F791-6216-8E03-EE0EE51DCB03}"/>
              </a:ext>
            </a:extLst>
          </p:cNvPr>
          <p:cNvSpPr txBox="1">
            <a:spLocks/>
          </p:cNvSpPr>
          <p:nvPr/>
        </p:nvSpPr>
        <p:spPr>
          <a:xfrm>
            <a:off x="705400" y="1330461"/>
            <a:ext cx="8246123" cy="3338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14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indent="0"/>
            <a:r>
              <a:rPr lang="en-CA" sz="1800" b="1" dirty="0"/>
              <a:t>RSA </a:t>
            </a:r>
            <a:r>
              <a:rPr lang="en-CA" sz="1800" dirty="0"/>
              <a:t>uses </a:t>
            </a:r>
            <a:r>
              <a:rPr lang="en-CA" sz="1800" b="1" dirty="0"/>
              <a:t>Prime</a:t>
            </a:r>
            <a:r>
              <a:rPr lang="en-CA" sz="1800" dirty="0"/>
              <a:t> numbers to encrypt your messages!</a:t>
            </a:r>
          </a:p>
          <a:p>
            <a:pPr marL="0" indent="0"/>
            <a:endParaRPr lang="en-CA" sz="1800" dirty="0"/>
          </a:p>
          <a:p>
            <a:pPr marL="0" indent="0"/>
            <a:r>
              <a:rPr lang="en-CA" sz="1800" dirty="0"/>
              <a:t>Prime Numbers are numbers that are </a:t>
            </a:r>
            <a:r>
              <a:rPr lang="en-CA" sz="1800" b="1" dirty="0"/>
              <a:t>fully</a:t>
            </a:r>
            <a:r>
              <a:rPr lang="en-CA" sz="1800" dirty="0"/>
              <a:t> divisible by ONLY 1 and the number itself.</a:t>
            </a:r>
          </a:p>
          <a:p>
            <a:pPr marL="0" indent="0"/>
            <a:r>
              <a:rPr lang="en-CA" sz="1800" dirty="0"/>
              <a:t>Example: 13 is only divisible by 13 and 1</a:t>
            </a:r>
          </a:p>
          <a:p>
            <a:pPr marL="0" indent="0"/>
            <a:r>
              <a:rPr lang="en-CA" sz="1800" dirty="0"/>
              <a:t>	   23 is only divisible by 23 and 1</a:t>
            </a:r>
          </a:p>
          <a:p>
            <a:pPr marL="0" indent="0"/>
            <a:endParaRPr lang="en-CA" sz="1800" dirty="0"/>
          </a:p>
          <a:p>
            <a:pPr marL="0" indent="0"/>
            <a:r>
              <a:rPr lang="en-CA" sz="1800" dirty="0"/>
              <a:t>2,3,5,7,13,15,17,19,23,29,31,37… and so on, are </a:t>
            </a:r>
            <a:r>
              <a:rPr lang="en-CA" sz="1800" b="1" dirty="0"/>
              <a:t>ALL </a:t>
            </a:r>
            <a:r>
              <a:rPr lang="en-CA" sz="1800" dirty="0"/>
              <a:t>prime numbers!</a:t>
            </a:r>
          </a:p>
        </p:txBody>
      </p:sp>
      <p:pic>
        <p:nvPicPr>
          <p:cNvPr id="20" name="Google Shape;198;p34">
            <a:extLst>
              <a:ext uri="{FF2B5EF4-FFF2-40B4-BE49-F238E27FC236}">
                <a16:creationId xmlns:a16="http://schemas.microsoft.com/office/drawing/2014/main" id="{F216B3C4-FB07-4589-CD5F-348DABECDCF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3894591" y="3758340"/>
            <a:ext cx="1354818" cy="16897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0419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9EB36499-0CC1-C1C8-AA15-94B61FB3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FF010192-7CA1-0812-148D-018518D23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The </a:t>
            </a:r>
            <a:r>
              <a:rPr lang="en" dirty="0"/>
              <a:t>Math</a:t>
            </a:r>
            <a:r>
              <a:rPr lang="en" dirty="0">
                <a:solidFill>
                  <a:schemeClr val="accent3"/>
                </a:solidFill>
              </a:rPr>
              <a:t> Behind it All!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23E78CB1-117A-6BB7-72DE-1157BE122B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1"/>
            <a:ext cx="8246123" cy="1587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2000" dirty="0"/>
              <a:t>Pick two LARGE </a:t>
            </a:r>
            <a:r>
              <a:rPr lang="en-CA" sz="2000" b="1" dirty="0"/>
              <a:t>prime</a:t>
            </a:r>
            <a:r>
              <a:rPr lang="en-CA" sz="2000" dirty="0"/>
              <a:t> numbers.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2000" dirty="0"/>
              <a:t>Mix them in a special math formula.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CA" sz="2000" dirty="0"/>
              <a:t>This creates two keys: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CA" sz="2000" dirty="0"/>
              <a:t>Public Key (lock)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CA" sz="2000" dirty="0"/>
              <a:t>Private Key (key)</a:t>
            </a:r>
          </a:p>
        </p:txBody>
      </p:sp>
      <p:sp>
        <p:nvSpPr>
          <p:cNvPr id="2" name="Google Shape;204;p35">
            <a:extLst>
              <a:ext uri="{FF2B5EF4-FFF2-40B4-BE49-F238E27FC236}">
                <a16:creationId xmlns:a16="http://schemas.microsoft.com/office/drawing/2014/main" id="{CFF612CF-8569-988F-12A6-5DF87FD392DF}"/>
              </a:ext>
            </a:extLst>
          </p:cNvPr>
          <p:cNvSpPr txBox="1">
            <a:spLocks/>
          </p:cNvSpPr>
          <p:nvPr/>
        </p:nvSpPr>
        <p:spPr>
          <a:xfrm>
            <a:off x="713148" y="2972326"/>
            <a:ext cx="8246123" cy="1587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14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Arvo"/>
              <a:buNone/>
              <a:defRPr sz="2100" b="0" i="0" u="none" strike="noStrike" cap="none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CA" sz="2000" dirty="0"/>
              <a:t>To encrypt: raise a number to power </a:t>
            </a:r>
            <a:r>
              <a:rPr lang="en-CA" sz="2000" i="1" dirty="0"/>
              <a:t>e</a:t>
            </a:r>
            <a:r>
              <a:rPr lang="en-CA" sz="2000" dirty="0"/>
              <a:t>, mod</a:t>
            </a:r>
            <a:r>
              <a:rPr lang="en-CA" sz="2000" i="1" dirty="0"/>
              <a:t> n.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CA" sz="2000" dirty="0"/>
              <a:t>To decrypt: raise to power </a:t>
            </a:r>
            <a:r>
              <a:rPr lang="en-CA" sz="2000" i="1" dirty="0"/>
              <a:t>d</a:t>
            </a:r>
            <a:r>
              <a:rPr lang="en-CA" sz="2000" dirty="0"/>
              <a:t>, mod </a:t>
            </a:r>
            <a:r>
              <a:rPr lang="en-CA" sz="2000" i="1" dirty="0"/>
              <a:t>n</a:t>
            </a:r>
            <a:r>
              <a:rPr lang="en-CA" sz="2000" dirty="0"/>
              <a:t>.</a:t>
            </a:r>
          </a:p>
        </p:txBody>
      </p:sp>
      <p:pic>
        <p:nvPicPr>
          <p:cNvPr id="4" name="Google Shape;198;p34">
            <a:extLst>
              <a:ext uri="{FF2B5EF4-FFF2-40B4-BE49-F238E27FC236}">
                <a16:creationId xmlns:a16="http://schemas.microsoft.com/office/drawing/2014/main" id="{FCCC028C-A096-53E5-F2D1-C0D606C38B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1740" y="1573077"/>
            <a:ext cx="1715023" cy="41419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9381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F3ACA2CE-95D0-EBD9-B292-DA61449B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F2A06630-2B2E-CADB-35BE-363B98B4B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Why Does It </a:t>
            </a:r>
            <a:r>
              <a:rPr lang="en" dirty="0"/>
              <a:t>Work?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A1C0CF36-58C7-7426-0BF3-E9DFF43DF9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1"/>
            <a:ext cx="8246123" cy="1587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000" dirty="0"/>
              <a:t>Why does this mathematically work?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000" dirty="0"/>
              <a:t>Because…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Factoring HUGE numbers is extremely hard</a:t>
            </a:r>
            <a:br>
              <a:rPr lang="en-CA" sz="2000" dirty="0"/>
            </a:br>
            <a:endParaRPr lang="en-CA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With primes hundreds of digits long</a:t>
            </a:r>
            <a:br>
              <a:rPr lang="en-CA" sz="2000" dirty="0"/>
            </a:br>
            <a:endParaRPr lang="en-CA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Even supercomputers struggle!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000" dirty="0"/>
              <a:t>It is like trying to find two needles in a stack full of </a:t>
            </a:r>
            <a:br>
              <a:rPr lang="en-CA" sz="2000" dirty="0"/>
            </a:br>
            <a:r>
              <a:rPr lang="en-CA" sz="2000" dirty="0"/>
              <a:t>needles!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2000" dirty="0"/>
          </a:p>
        </p:txBody>
      </p:sp>
      <p:pic>
        <p:nvPicPr>
          <p:cNvPr id="4" name="Google Shape;198;p34">
            <a:extLst>
              <a:ext uri="{FF2B5EF4-FFF2-40B4-BE49-F238E27FC236}">
                <a16:creationId xmlns:a16="http://schemas.microsoft.com/office/drawing/2014/main" id="{C630AF25-F388-D718-4FCC-1A3A0E565C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1740" y="1573077"/>
            <a:ext cx="1715023" cy="41419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2601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6C914321-36C5-05D1-260F-D4DD205E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>
            <a:extLst>
              <a:ext uri="{FF2B5EF4-FFF2-40B4-BE49-F238E27FC236}">
                <a16:creationId xmlns:a16="http://schemas.microsoft.com/office/drawing/2014/main" id="{0FFD472B-BF05-461A-68D2-29375E4E5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Hands On!</a:t>
            </a:r>
            <a:endParaRPr dirty="0"/>
          </a:p>
        </p:txBody>
      </p:sp>
      <p:sp>
        <p:nvSpPr>
          <p:cNvPr id="194" name="Google Shape;194;p34">
            <a:extLst>
              <a:ext uri="{FF2B5EF4-FFF2-40B4-BE49-F238E27FC236}">
                <a16:creationId xmlns:a16="http://schemas.microsoft.com/office/drawing/2014/main" id="{114349A7-D3A3-62CE-43E7-8F00107EF1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F14E68D7-73D9-E2FE-D5A4-243A4268A7B7}"/>
              </a:ext>
            </a:extLst>
          </p:cNvPr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0FD80F0B-B371-3EEF-5BA0-69FF43D2CD43}"/>
              </a:ext>
            </a:extLst>
          </p:cNvPr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>
            <a:extLst>
              <a:ext uri="{FF2B5EF4-FFF2-40B4-BE49-F238E27FC236}">
                <a16:creationId xmlns:a16="http://schemas.microsoft.com/office/drawing/2014/main" id="{3CEB2C84-60AC-10F4-ECA0-2E7631BAD79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6386909" y="1486172"/>
            <a:ext cx="1725812" cy="4133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866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F634C7AA-6241-030C-5236-35C71ABA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>
            <a:extLst>
              <a:ext uri="{FF2B5EF4-FFF2-40B4-BE49-F238E27FC236}">
                <a16:creationId xmlns:a16="http://schemas.microsoft.com/office/drawing/2014/main" id="{B4BE367A-6F57-36B7-8CF3-28F6BE04A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94" name="Google Shape;194;p34">
            <a:extLst>
              <a:ext uri="{FF2B5EF4-FFF2-40B4-BE49-F238E27FC236}">
                <a16:creationId xmlns:a16="http://schemas.microsoft.com/office/drawing/2014/main" id="{30AFA9E8-0BF5-6179-13A6-CFB7FBE6D31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33DD37D8-FCA5-3D8B-2D41-B55CC75BF2C4}"/>
              </a:ext>
            </a:extLst>
          </p:cNvPr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323D3446-DE27-65F2-25A8-69854A190EA5}"/>
              </a:ext>
            </a:extLst>
          </p:cNvPr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>
            <a:extLst>
              <a:ext uri="{FF2B5EF4-FFF2-40B4-BE49-F238E27FC236}">
                <a16:creationId xmlns:a16="http://schemas.microsoft.com/office/drawing/2014/main" id="{5C15E676-9364-A791-B514-C2A8B33022B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5887039" y="1794250"/>
            <a:ext cx="2692309" cy="2876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1470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62"/>
          <p:cNvSpPr/>
          <p:nvPr/>
        </p:nvSpPr>
        <p:spPr>
          <a:xfrm>
            <a:off x="1046450" y="98325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62"/>
          <p:cNvSpPr/>
          <p:nvPr/>
        </p:nvSpPr>
        <p:spPr>
          <a:xfrm>
            <a:off x="1156250" y="108026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62"/>
          <p:cNvSpPr/>
          <p:nvPr/>
        </p:nvSpPr>
        <p:spPr>
          <a:xfrm>
            <a:off x="4576363" y="2684587"/>
            <a:ext cx="504000" cy="5040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62"/>
          <p:cNvSpPr/>
          <p:nvPr/>
        </p:nvSpPr>
        <p:spPr>
          <a:xfrm>
            <a:off x="4618802" y="2726978"/>
            <a:ext cx="419400" cy="41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62"/>
          <p:cNvSpPr/>
          <p:nvPr/>
        </p:nvSpPr>
        <p:spPr>
          <a:xfrm>
            <a:off x="5235538" y="2684587"/>
            <a:ext cx="504000" cy="5040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62"/>
          <p:cNvSpPr/>
          <p:nvPr/>
        </p:nvSpPr>
        <p:spPr>
          <a:xfrm>
            <a:off x="5277838" y="2726978"/>
            <a:ext cx="419400" cy="41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62"/>
          <p:cNvSpPr/>
          <p:nvPr/>
        </p:nvSpPr>
        <p:spPr>
          <a:xfrm>
            <a:off x="5936888" y="2684587"/>
            <a:ext cx="504000" cy="5040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62"/>
          <p:cNvSpPr/>
          <p:nvPr/>
        </p:nvSpPr>
        <p:spPr>
          <a:xfrm>
            <a:off x="5979327" y="2726978"/>
            <a:ext cx="419400" cy="41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7" name="Google Shape;1487;p62"/>
          <p:cNvSpPr txBox="1">
            <a:spLocks noGrp="1"/>
          </p:cNvSpPr>
          <p:nvPr>
            <p:ph type="ctrTitle"/>
          </p:nvPr>
        </p:nvSpPr>
        <p:spPr>
          <a:xfrm>
            <a:off x="4576381" y="539500"/>
            <a:ext cx="38499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488" name="Google Shape;1488;p62"/>
          <p:cNvSpPr txBox="1">
            <a:spLocks noGrp="1"/>
          </p:cNvSpPr>
          <p:nvPr>
            <p:ph type="subTitle" idx="1"/>
          </p:nvPr>
        </p:nvSpPr>
        <p:spPr>
          <a:xfrm>
            <a:off x="4572000" y="1399450"/>
            <a:ext cx="38589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addyouremail@freepik.com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9" name="Google Shape;1489;p62"/>
          <p:cNvGrpSpPr/>
          <p:nvPr/>
        </p:nvGrpSpPr>
        <p:grpSpPr>
          <a:xfrm>
            <a:off x="6054515" y="2802810"/>
            <a:ext cx="268743" cy="263724"/>
            <a:chOff x="3763184" y="3817357"/>
            <a:chExt cx="363314" cy="356576"/>
          </a:xfrm>
        </p:grpSpPr>
        <p:sp>
          <p:nvSpPr>
            <p:cNvPr id="1490" name="Google Shape;1490;p62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2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2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2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2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5" name="Google Shape;1495;p62"/>
          <p:cNvGrpSpPr/>
          <p:nvPr/>
        </p:nvGrpSpPr>
        <p:grpSpPr>
          <a:xfrm>
            <a:off x="5353166" y="2802778"/>
            <a:ext cx="268743" cy="264258"/>
            <a:chOff x="3314750" y="3817357"/>
            <a:chExt cx="362920" cy="356865"/>
          </a:xfrm>
        </p:grpSpPr>
        <p:grpSp>
          <p:nvGrpSpPr>
            <p:cNvPr id="1496" name="Google Shape;1496;p62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1497" name="Google Shape;1497;p62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62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rgbClr val="000000">
                  <a:alpha val="263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62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1500" name="Google Shape;1500;p62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62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2" name="Google Shape;1502;p62"/>
          <p:cNvGrpSpPr/>
          <p:nvPr/>
        </p:nvGrpSpPr>
        <p:grpSpPr>
          <a:xfrm>
            <a:off x="4694001" y="2802899"/>
            <a:ext cx="268743" cy="264258"/>
            <a:chOff x="2866317" y="3817357"/>
            <a:chExt cx="362920" cy="356865"/>
          </a:xfrm>
        </p:grpSpPr>
        <p:sp>
          <p:nvSpPr>
            <p:cNvPr id="1503" name="Google Shape;1503;p62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2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2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6" name="Google Shape;1506;p62"/>
          <p:cNvSpPr txBox="1"/>
          <p:nvPr/>
        </p:nvSpPr>
        <p:spPr>
          <a:xfrm rot="-1090">
            <a:off x="4576375" y="4209539"/>
            <a:ext cx="37854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Please keep this slide as attribution</a:t>
            </a:r>
            <a:endParaRPr>
              <a:solidFill>
                <a:schemeClr val="accent3"/>
              </a:solidFill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1507" name="Google Shape;1507;p62"/>
          <p:cNvPicPr preferRelativeResize="0"/>
          <p:nvPr/>
        </p:nvPicPr>
        <p:blipFill rotWithShape="1">
          <a:blip r:embed="rId3">
            <a:alphaModFix/>
          </a:blip>
          <a:srcRect b="35897"/>
          <a:stretch/>
        </p:blipFill>
        <p:spPr>
          <a:xfrm>
            <a:off x="1308125" y="789371"/>
            <a:ext cx="2244150" cy="451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65"/>
          <p:cNvSpPr txBox="1">
            <a:spLocks noGrp="1"/>
          </p:cNvSpPr>
          <p:nvPr>
            <p:ph type="body" idx="1"/>
          </p:nvPr>
        </p:nvSpPr>
        <p:spPr>
          <a:xfrm>
            <a:off x="713225" y="882250"/>
            <a:ext cx="7717500" cy="3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CA" dirty="0"/>
              <a:t>1. </a:t>
            </a:r>
            <a:r>
              <a:rPr lang="en-CA" dirty="0">
                <a:hlinkClick r:id="rId3"/>
              </a:rPr>
              <a:t>Rivest-Shamir-Adleman Photo</a:t>
            </a:r>
            <a:endParaRPr dirty="0"/>
          </a:p>
        </p:txBody>
      </p:sp>
      <p:sp>
        <p:nvSpPr>
          <p:cNvPr id="2126" name="Google Shape;2126;p65"/>
          <p:cNvSpPr txBox="1">
            <a:spLocks noGrp="1"/>
          </p:cNvSpPr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pic>
        <p:nvPicPr>
          <p:cNvPr id="2127" name="Google Shape;212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6700" y="2702100"/>
            <a:ext cx="881185" cy="246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terature's Genius Fictional Detective Style MK Campaign by Slidesgo">
  <a:themeElements>
    <a:clrScheme name="Simple Light">
      <a:dk1>
        <a:srgbClr val="8D646E"/>
      </a:dk1>
      <a:lt1>
        <a:srgbClr val="6C4952"/>
      </a:lt1>
      <a:dk2>
        <a:srgbClr val="944545"/>
      </a:dk2>
      <a:lt2>
        <a:srgbClr val="EB5759"/>
      </a:lt2>
      <a:accent1>
        <a:srgbClr val="FDCD6A"/>
      </a:accent1>
      <a:accent2>
        <a:srgbClr val="EBD6A8"/>
      </a:accent2>
      <a:accent3>
        <a:srgbClr val="FFFAD6"/>
      </a:accent3>
      <a:accent4>
        <a:srgbClr val="7DC3ED"/>
      </a:accent4>
      <a:accent5>
        <a:srgbClr val="C0E2E2"/>
      </a:accent5>
      <a:accent6>
        <a:srgbClr val="B4BC40"/>
      </a:accent6>
      <a:hlink>
        <a:srgbClr val="FFFAD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671</Words>
  <Application>Microsoft Office PowerPoint</Application>
  <PresentationFormat>On-screen Show (16:9)</PresentationFormat>
  <Paragraphs>115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Arvo</vt:lpstr>
      <vt:lpstr>Bowlby One SC</vt:lpstr>
      <vt:lpstr>Wingdings</vt:lpstr>
      <vt:lpstr>Literature's Genius Fictional Detective Style MK Campaign by Slidesgo</vt:lpstr>
      <vt:lpstr>CRyptography</vt:lpstr>
      <vt:lpstr>Ice-breaker</vt:lpstr>
      <vt:lpstr>01</vt:lpstr>
      <vt:lpstr>Crypto? Graphy?</vt:lpstr>
      <vt:lpstr>RSA CRyptography</vt:lpstr>
      <vt:lpstr>Some examples of where Cryptography is used</vt:lpstr>
      <vt:lpstr>How did it start?</vt:lpstr>
      <vt:lpstr>Some examples of where Cryptography is used</vt:lpstr>
      <vt:lpstr>John Perry Barlow</vt:lpstr>
      <vt:lpstr>How Does It Work?</vt:lpstr>
      <vt:lpstr>Locks And Keys</vt:lpstr>
      <vt:lpstr>Prime Numbers</vt:lpstr>
      <vt:lpstr>The Math Behind it All!</vt:lpstr>
      <vt:lpstr>Why Does It Work?</vt:lpstr>
      <vt:lpstr>Hands On!</vt:lpstr>
      <vt:lpstr>Conclusion</vt:lpstr>
      <vt:lpstr>THANKS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Glen Issac</cp:lastModifiedBy>
  <cp:revision>5</cp:revision>
  <dcterms:modified xsi:type="dcterms:W3CDTF">2025-11-19T21:10:32Z</dcterms:modified>
</cp:coreProperties>
</file>